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77" r:id="rId3"/>
    <p:sldId id="258" r:id="rId4"/>
    <p:sldId id="259" r:id="rId5"/>
    <p:sldId id="260" r:id="rId6"/>
    <p:sldId id="261" r:id="rId7"/>
    <p:sldId id="279"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86" r:id="rId23"/>
    <p:sldId id="280" r:id="rId24"/>
    <p:sldId id="281" r:id="rId25"/>
    <p:sldId id="282" r:id="rId26"/>
    <p:sldId id="285" r:id="rId27"/>
    <p:sldId id="283" r:id="rId28"/>
    <p:sldId id="284" r:id="rId29"/>
    <p:sldId id="276"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3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455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42288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133391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089432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8638131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31"/>
        </a:solidFill>
        <a:effectLst/>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0E6BA8"/>
          </a:solidFill>
          <a:ln w="12700">
            <a:solidFill>
              <a:srgbClr val="0E6BA8"/>
            </a:solidFill>
            <a:prstDash val="solid"/>
          </a:ln>
        </p:spPr>
      </p:sp>
      <p:sp>
        <p:nvSpPr>
          <p:cNvPr id="3" name="Text 1"/>
          <p:cNvSpPr/>
          <p:nvPr/>
        </p:nvSpPr>
        <p:spPr>
          <a:xfrm>
            <a:off x="457200" y="91440"/>
            <a:ext cx="8229600" cy="109728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Indian Automobile Market Analysis</a:t>
            </a:r>
            <a:endParaRPr lang="en-US" sz="3400" dirty="0"/>
          </a:p>
        </p:txBody>
      </p:sp>
      <p:sp>
        <p:nvSpPr>
          <p:cNvPr id="4" name="Text 2"/>
          <p:cNvSpPr/>
          <p:nvPr/>
        </p:nvSpPr>
        <p:spPr>
          <a:xfrm>
            <a:off x="457200" y="1554480"/>
            <a:ext cx="8229600" cy="457200"/>
          </a:xfrm>
          <a:prstGeom prst="rect">
            <a:avLst/>
          </a:prstGeom>
          <a:noFill/>
          <a:ln/>
        </p:spPr>
        <p:txBody>
          <a:bodyPr wrap="square" rtlCol="0" anchor="ctr"/>
          <a:lstStyle/>
          <a:p>
            <a:pPr marL="0" indent="0" algn="ctr">
              <a:buNone/>
            </a:pPr>
            <a:r>
              <a:rPr lang="en-US" sz="1500" dirty="0">
                <a:solidFill>
                  <a:srgbClr val="00C9FF"/>
                </a:solidFill>
                <a:latin typeface="Calibri" pitchFamily="34" charset="0"/>
                <a:ea typeface="Calibri" pitchFamily="34" charset="-122"/>
                <a:cs typeface="Calibri" pitchFamily="34" charset="-120"/>
              </a:rPr>
              <a:t>EDA &amp; Machine Learning — A Comparative Study of Maruti · Mahindra · Hyundai</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286000" y="2194560"/>
          <a:ext cx="4572000" cy="1737360"/>
        </p:xfrm>
        <a:graphic>
          <a:graphicData uri="http://schemas.openxmlformats.org/drawingml/2006/table">
            <a:tbl>
              <a:tblPr/>
              <a:tblGrid>
                <a:gridCol w="548640"/>
                <a:gridCol w="2560320"/>
                <a:gridCol w="1463040"/>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Sr.</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E6BA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E6BA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PRN</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E6BA8"/>
                    </a:solidFill>
                  </a:tcPr>
                </a:tc>
              </a:tr>
              <a:tr h="347472">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Pranav Menon</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25070123085</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r>
              <a:tr h="347472">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Rachit</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25070123088</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r>
              <a:tr h="347472">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Madhur</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25070123070</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r>
              <a:tr h="347472">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Mahi</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25070123069</a:t>
                      </a:r>
                      <a:endParaRPr lang="en-US" sz="1200" dirty="0">
                        <a:latin typeface="Calibri" charset="0"/>
                        <a:ea typeface="Calibri" charset="0"/>
                        <a:cs typeface="Calibri" charset="0"/>
                      </a:endParaRPr>
                    </a:p>
                  </a:txBody>
                  <a:tcP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0F172A"/>
                    </a:solidFill>
                  </a:tcPr>
                </a:tc>
              </a:tr>
            </a:tbl>
          </a:graphicData>
        </a:graphic>
      </p:graphicFrame>
      <p:sp>
        <p:nvSpPr>
          <p:cNvPr id="6" name="Text 3"/>
          <p:cNvSpPr/>
          <p:nvPr/>
        </p:nvSpPr>
        <p:spPr>
          <a:xfrm>
            <a:off x="457200" y="4389120"/>
            <a:ext cx="8229600" cy="365760"/>
          </a:xfrm>
          <a:prstGeom prst="rect">
            <a:avLst/>
          </a:prstGeom>
          <a:noFill/>
          <a:ln/>
        </p:spPr>
        <p:txBody>
          <a:bodyPr wrap="square" rtlCol="0" anchor="ctr"/>
          <a:lstStyle/>
          <a:p>
            <a:pPr marL="0" indent="0" algn="ctr">
              <a:buNone/>
            </a:pPr>
            <a:r>
              <a:rPr lang="en-US" sz="1200" i="1" dirty="0">
                <a:solidFill>
                  <a:srgbClr val="94A3B8"/>
                </a:solidFill>
                <a:latin typeface="Calibri" pitchFamily="34" charset="0"/>
                <a:ea typeface="Calibri" pitchFamily="34" charset="-122"/>
                <a:cs typeface="Calibri" pitchFamily="34" charset="-120"/>
              </a:rPr>
              <a:t>Datasets: Maruti Suzuki.csv  ·  Mahindra.csv  ·  Hyundai.csv</a:t>
            </a:r>
            <a:endParaRPr lang="en-US" sz="12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What is Exploratory Data Analysis (EDA)?</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Text 3"/>
          <p:cNvSpPr/>
          <p:nvPr/>
        </p:nvSpPr>
        <p:spPr>
          <a:xfrm>
            <a:off x="287748" y="961631"/>
            <a:ext cx="4691447" cy="594910"/>
          </a:xfrm>
          <a:prstGeom prst="rect">
            <a:avLst/>
          </a:prstGeom>
          <a:ln/>
        </p:spPr>
        <p:style>
          <a:lnRef idx="3">
            <a:schemeClr val="lt1"/>
          </a:lnRef>
          <a:fillRef idx="1">
            <a:schemeClr val="accent4"/>
          </a:fillRef>
          <a:effectRef idx="1">
            <a:schemeClr val="accent4"/>
          </a:effectRef>
          <a:fontRef idx="minor">
            <a:schemeClr val="lt1"/>
          </a:fontRef>
        </p:style>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EDA is the process of</a:t>
            </a:r>
            <a:r>
              <a:rPr lang="en-US" sz="1400" b="1" dirty="0">
                <a:solidFill>
                  <a:srgbClr val="0E6BA8"/>
                </a:solidFill>
                <a:latin typeface="Calibri" pitchFamily="34" charset="0"/>
                <a:ea typeface="Calibri" pitchFamily="34" charset="-122"/>
                <a:cs typeface="Calibri" pitchFamily="34" charset="-120"/>
              </a:rPr>
              <a:t> understanding datasets by summarizing their main characteristics</a:t>
            </a:r>
            <a:r>
              <a:rPr lang="en-US" sz="1400" dirty="0">
                <a:solidFill>
                  <a:srgbClr val="1E293B"/>
                </a:solidFill>
                <a:latin typeface="Calibri" pitchFamily="34" charset="0"/>
                <a:ea typeface="Calibri" pitchFamily="34" charset="-122"/>
                <a:cs typeface="Calibri" pitchFamily="34" charset="-120"/>
              </a:rPr>
              <a:t> — often using visual methods.</a:t>
            </a:r>
            <a:endParaRPr lang="en-US" sz="1400" dirty="0"/>
          </a:p>
        </p:txBody>
      </p:sp>
      <p:sp>
        <p:nvSpPr>
          <p:cNvPr id="6" name="Text 4"/>
          <p:cNvSpPr/>
          <p:nvPr/>
        </p:nvSpPr>
        <p:spPr>
          <a:xfrm>
            <a:off x="73152" y="1777509"/>
            <a:ext cx="5120640" cy="2926080"/>
          </a:xfrm>
          <a:prstGeom prst="rect">
            <a:avLst/>
          </a:prstGeom>
          <a:noFill/>
          <a:ln/>
        </p:spPr>
        <p:txBody>
          <a:bodyPr wrap="square" rtlCol="0" anchor="ctr"/>
          <a:lstStyle/>
          <a:p>
            <a:pPr marL="342900" indent="-342900">
              <a:buSzPct val="100000"/>
              <a:buChar char="•"/>
            </a:pPr>
            <a:r>
              <a:rPr lang="en-US" dirty="0">
                <a:solidFill>
                  <a:srgbClr val="1E293B"/>
                </a:solidFill>
                <a:latin typeface="Calibri" pitchFamily="34" charset="0"/>
                <a:ea typeface="Calibri" pitchFamily="34" charset="-122"/>
                <a:cs typeface="Calibri" pitchFamily="34" charset="-120"/>
              </a:rPr>
              <a:t>Understand data before modeling or applying ML</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Identify patterns, trends, and anomalies</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Detect outliers and data quality issues</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Guide feature selection for ML models</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Uses tools: Histograms, Boxplots, Scatter plots, Heatmaps</a:t>
            </a:r>
            <a:endParaRPr lang="en-US" dirty="0"/>
          </a:p>
          <a:p>
            <a:pPr marL="342900" indent="-342900">
              <a:buSzPct val="100000"/>
              <a:buChar char="•"/>
            </a:pPr>
            <a:r>
              <a:rPr lang="en-US" dirty="0">
                <a:solidFill>
                  <a:srgbClr val="1E293B"/>
                </a:solidFill>
                <a:latin typeface="Calibri" pitchFamily="34" charset="0"/>
                <a:ea typeface="Calibri" pitchFamily="34" charset="-122"/>
                <a:cs typeface="Calibri" pitchFamily="34" charset="-120"/>
              </a:rPr>
              <a:t>Takes significant time but is critical for reliable insights</a:t>
            </a:r>
            <a:endParaRPr lang="en-US" dirty="0"/>
          </a:p>
        </p:txBody>
      </p:sp>
      <p:pic>
        <p:nvPicPr>
          <p:cNvPr id="1026" name="Picture 2" descr="Exploratory Data Analysis using Python - ActiveSt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5618" y="1524507"/>
            <a:ext cx="2823476" cy="1482325"/>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1028" name="Picture 4" descr="Exploratory Data Analysis and its Applications – Information Management and  Analytics Club, IMI New Delh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6293" y="3399408"/>
            <a:ext cx="2887584" cy="1578797"/>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4443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Steps Involved in EDA (Unit 2)</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41248"/>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6" name="Shape 4"/>
          <p:cNvSpPr/>
          <p:nvPr/>
        </p:nvSpPr>
        <p:spPr>
          <a:xfrm>
            <a:off x="201168" y="841248"/>
            <a:ext cx="347472" cy="1188720"/>
          </a:xfrm>
          <a:prstGeom prst="rect">
            <a:avLst/>
          </a:prstGeom>
          <a:solidFill>
            <a:srgbClr val="0E6BA8"/>
          </a:solidFill>
          <a:ln w="12700">
            <a:solidFill>
              <a:srgbClr val="0E6BA8"/>
            </a:solidFill>
            <a:prstDash val="solid"/>
          </a:ln>
        </p:spPr>
      </p:sp>
      <p:sp>
        <p:nvSpPr>
          <p:cNvPr id="7" name="Text 5"/>
          <p:cNvSpPr/>
          <p:nvPr/>
        </p:nvSpPr>
        <p:spPr>
          <a:xfrm>
            <a:off x="201168" y="841248"/>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585216" y="886968"/>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Collection</a:t>
            </a:r>
            <a:endParaRPr lang="en-US" sz="1200" dirty="0"/>
          </a:p>
        </p:txBody>
      </p:sp>
      <p:sp>
        <p:nvSpPr>
          <p:cNvPr id="9" name="Text 7"/>
          <p:cNvSpPr/>
          <p:nvPr/>
        </p:nvSpPr>
        <p:spPr>
          <a:xfrm>
            <a:off x="585216" y="1188720"/>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Gather from surveys, DBs, sensors, CSV/Excel/JSON. Ensure relevance &amp; reliability.</a:t>
            </a:r>
            <a:endParaRPr lang="en-US" sz="1000" dirty="0"/>
          </a:p>
        </p:txBody>
      </p:sp>
      <p:sp>
        <p:nvSpPr>
          <p:cNvPr id="10" name="Shape 8"/>
          <p:cNvSpPr/>
          <p:nvPr/>
        </p:nvSpPr>
        <p:spPr>
          <a:xfrm>
            <a:off x="2852928" y="841248"/>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11" name="Shape 9"/>
          <p:cNvSpPr/>
          <p:nvPr/>
        </p:nvSpPr>
        <p:spPr>
          <a:xfrm>
            <a:off x="2852928" y="841248"/>
            <a:ext cx="347472" cy="1188720"/>
          </a:xfrm>
          <a:prstGeom prst="rect">
            <a:avLst/>
          </a:prstGeom>
          <a:solidFill>
            <a:srgbClr val="0E6BA8"/>
          </a:solidFill>
          <a:ln w="12700">
            <a:solidFill>
              <a:srgbClr val="0E6BA8"/>
            </a:solidFill>
            <a:prstDash val="solid"/>
          </a:ln>
        </p:spPr>
      </p:sp>
      <p:sp>
        <p:nvSpPr>
          <p:cNvPr id="12" name="Text 10"/>
          <p:cNvSpPr/>
          <p:nvPr/>
        </p:nvSpPr>
        <p:spPr>
          <a:xfrm>
            <a:off x="2852928" y="841248"/>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3236976" y="886968"/>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Understanding</a:t>
            </a:r>
            <a:endParaRPr lang="en-US" sz="1200" dirty="0"/>
          </a:p>
        </p:txBody>
      </p:sp>
      <p:sp>
        <p:nvSpPr>
          <p:cNvPr id="14" name="Text 12"/>
          <p:cNvSpPr/>
          <p:nvPr/>
        </p:nvSpPr>
        <p:spPr>
          <a:xfrm>
            <a:off x="3236976" y="1188720"/>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Examine record count, feature meanings, data types (numerical/categorical).</a:t>
            </a:r>
            <a:endParaRPr lang="en-US" sz="1000" dirty="0"/>
          </a:p>
        </p:txBody>
      </p:sp>
      <p:sp>
        <p:nvSpPr>
          <p:cNvPr id="15" name="Shape 13"/>
          <p:cNvSpPr/>
          <p:nvPr/>
        </p:nvSpPr>
        <p:spPr>
          <a:xfrm>
            <a:off x="5504688" y="841248"/>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16" name="Shape 14"/>
          <p:cNvSpPr/>
          <p:nvPr/>
        </p:nvSpPr>
        <p:spPr>
          <a:xfrm>
            <a:off x="5504688" y="841248"/>
            <a:ext cx="347472" cy="1188720"/>
          </a:xfrm>
          <a:prstGeom prst="rect">
            <a:avLst/>
          </a:prstGeom>
          <a:solidFill>
            <a:srgbClr val="0E6BA8"/>
          </a:solidFill>
          <a:ln w="12700">
            <a:solidFill>
              <a:srgbClr val="0E6BA8"/>
            </a:solidFill>
            <a:prstDash val="solid"/>
          </a:ln>
        </p:spPr>
      </p:sp>
      <p:sp>
        <p:nvSpPr>
          <p:cNvPr id="17" name="Text 15"/>
          <p:cNvSpPr/>
          <p:nvPr/>
        </p:nvSpPr>
        <p:spPr>
          <a:xfrm>
            <a:off x="5504688" y="841248"/>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5888736" y="886968"/>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Cleaning</a:t>
            </a:r>
            <a:endParaRPr lang="en-US" sz="1200" dirty="0"/>
          </a:p>
        </p:txBody>
      </p:sp>
      <p:sp>
        <p:nvSpPr>
          <p:cNvPr id="19" name="Text 17"/>
          <p:cNvSpPr/>
          <p:nvPr/>
        </p:nvSpPr>
        <p:spPr>
          <a:xfrm>
            <a:off x="5888736" y="1188720"/>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Handle missing values, remove duplicates, correct inconsistencies, treat outliers.</a:t>
            </a:r>
            <a:endParaRPr lang="en-US" sz="1000" dirty="0"/>
          </a:p>
        </p:txBody>
      </p:sp>
      <p:sp>
        <p:nvSpPr>
          <p:cNvPr id="20" name="Shape 18"/>
          <p:cNvSpPr/>
          <p:nvPr/>
        </p:nvSpPr>
        <p:spPr>
          <a:xfrm>
            <a:off x="201168" y="2157984"/>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21" name="Shape 19"/>
          <p:cNvSpPr/>
          <p:nvPr/>
        </p:nvSpPr>
        <p:spPr>
          <a:xfrm>
            <a:off x="201168" y="2157984"/>
            <a:ext cx="347472" cy="1188720"/>
          </a:xfrm>
          <a:prstGeom prst="rect">
            <a:avLst/>
          </a:prstGeom>
          <a:solidFill>
            <a:srgbClr val="0E6BA8"/>
          </a:solidFill>
          <a:ln w="12700">
            <a:solidFill>
              <a:srgbClr val="0E6BA8"/>
            </a:solidFill>
            <a:prstDash val="solid"/>
          </a:ln>
        </p:spPr>
      </p:sp>
      <p:sp>
        <p:nvSpPr>
          <p:cNvPr id="22" name="Text 20"/>
          <p:cNvSpPr/>
          <p:nvPr/>
        </p:nvSpPr>
        <p:spPr>
          <a:xfrm>
            <a:off x="201168" y="2157984"/>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3" name="Text 21"/>
          <p:cNvSpPr/>
          <p:nvPr/>
        </p:nvSpPr>
        <p:spPr>
          <a:xfrm>
            <a:off x="585216" y="2203704"/>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Transformation</a:t>
            </a:r>
            <a:endParaRPr lang="en-US" sz="1200" dirty="0"/>
          </a:p>
        </p:txBody>
      </p:sp>
      <p:sp>
        <p:nvSpPr>
          <p:cNvPr id="24" name="Text 22"/>
          <p:cNvSpPr/>
          <p:nvPr/>
        </p:nvSpPr>
        <p:spPr>
          <a:xfrm>
            <a:off x="585216" y="2505456"/>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Encode categories, scale/normalize features, create new features.</a:t>
            </a:r>
            <a:endParaRPr lang="en-US" sz="1000" dirty="0"/>
          </a:p>
        </p:txBody>
      </p:sp>
      <p:sp>
        <p:nvSpPr>
          <p:cNvPr id="25" name="Shape 23"/>
          <p:cNvSpPr/>
          <p:nvPr/>
        </p:nvSpPr>
        <p:spPr>
          <a:xfrm>
            <a:off x="2852928" y="2157984"/>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26" name="Shape 24"/>
          <p:cNvSpPr/>
          <p:nvPr/>
        </p:nvSpPr>
        <p:spPr>
          <a:xfrm>
            <a:off x="2852928" y="2157984"/>
            <a:ext cx="347472" cy="1188720"/>
          </a:xfrm>
          <a:prstGeom prst="rect">
            <a:avLst/>
          </a:prstGeom>
          <a:solidFill>
            <a:srgbClr val="0E6BA8"/>
          </a:solidFill>
          <a:ln w="12700">
            <a:solidFill>
              <a:srgbClr val="0E6BA8"/>
            </a:solidFill>
            <a:prstDash val="solid"/>
          </a:ln>
        </p:spPr>
      </p:sp>
      <p:sp>
        <p:nvSpPr>
          <p:cNvPr id="27" name="Text 25"/>
          <p:cNvSpPr/>
          <p:nvPr/>
        </p:nvSpPr>
        <p:spPr>
          <a:xfrm>
            <a:off x="2852928" y="2157984"/>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8" name="Text 26"/>
          <p:cNvSpPr/>
          <p:nvPr/>
        </p:nvSpPr>
        <p:spPr>
          <a:xfrm>
            <a:off x="3236976" y="2203704"/>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Summarization</a:t>
            </a:r>
            <a:endParaRPr lang="en-US" sz="1200" dirty="0"/>
          </a:p>
        </p:txBody>
      </p:sp>
      <p:sp>
        <p:nvSpPr>
          <p:cNvPr id="29" name="Text 27"/>
          <p:cNvSpPr/>
          <p:nvPr/>
        </p:nvSpPr>
        <p:spPr>
          <a:xfrm>
            <a:off x="3236976" y="2505456"/>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Compute mean, median, mode, variance, std. dev., frequency distributions.</a:t>
            </a:r>
            <a:endParaRPr lang="en-US" sz="1000" dirty="0"/>
          </a:p>
        </p:txBody>
      </p:sp>
      <p:sp>
        <p:nvSpPr>
          <p:cNvPr id="30" name="Shape 28"/>
          <p:cNvSpPr/>
          <p:nvPr/>
        </p:nvSpPr>
        <p:spPr>
          <a:xfrm>
            <a:off x="5504688" y="2157984"/>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31" name="Shape 29"/>
          <p:cNvSpPr/>
          <p:nvPr/>
        </p:nvSpPr>
        <p:spPr>
          <a:xfrm>
            <a:off x="5504688" y="2157984"/>
            <a:ext cx="347472" cy="1188720"/>
          </a:xfrm>
          <a:prstGeom prst="rect">
            <a:avLst/>
          </a:prstGeom>
          <a:solidFill>
            <a:srgbClr val="0E6BA8"/>
          </a:solidFill>
          <a:ln w="12700">
            <a:solidFill>
              <a:srgbClr val="0E6BA8"/>
            </a:solidFill>
            <a:prstDash val="solid"/>
          </a:ln>
        </p:spPr>
      </p:sp>
      <p:sp>
        <p:nvSpPr>
          <p:cNvPr id="32" name="Text 30"/>
          <p:cNvSpPr/>
          <p:nvPr/>
        </p:nvSpPr>
        <p:spPr>
          <a:xfrm>
            <a:off x="5504688" y="2157984"/>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3" name="Text 31"/>
          <p:cNvSpPr/>
          <p:nvPr/>
        </p:nvSpPr>
        <p:spPr>
          <a:xfrm>
            <a:off x="5888736" y="2203704"/>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Data Visualization</a:t>
            </a:r>
            <a:endParaRPr lang="en-US" sz="1200" dirty="0"/>
          </a:p>
        </p:txBody>
      </p:sp>
      <p:sp>
        <p:nvSpPr>
          <p:cNvPr id="34" name="Text 32"/>
          <p:cNvSpPr/>
          <p:nvPr/>
        </p:nvSpPr>
        <p:spPr>
          <a:xfrm>
            <a:off x="5888736" y="2505456"/>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Plot histograms, bar charts, boxplots, scatter plots to reveal patterns.</a:t>
            </a:r>
            <a:endParaRPr lang="en-US" sz="1000" dirty="0"/>
          </a:p>
        </p:txBody>
      </p:sp>
      <p:sp>
        <p:nvSpPr>
          <p:cNvPr id="35" name="Shape 33"/>
          <p:cNvSpPr/>
          <p:nvPr/>
        </p:nvSpPr>
        <p:spPr>
          <a:xfrm>
            <a:off x="201168" y="3474720"/>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36" name="Shape 34"/>
          <p:cNvSpPr/>
          <p:nvPr/>
        </p:nvSpPr>
        <p:spPr>
          <a:xfrm>
            <a:off x="201168" y="3474720"/>
            <a:ext cx="347472" cy="1188720"/>
          </a:xfrm>
          <a:prstGeom prst="rect">
            <a:avLst/>
          </a:prstGeom>
          <a:solidFill>
            <a:srgbClr val="0E6BA8"/>
          </a:solidFill>
          <a:ln w="12700">
            <a:solidFill>
              <a:srgbClr val="0E6BA8"/>
            </a:solidFill>
            <a:prstDash val="solid"/>
          </a:ln>
        </p:spPr>
      </p:sp>
      <p:sp>
        <p:nvSpPr>
          <p:cNvPr id="37" name="Text 35"/>
          <p:cNvSpPr/>
          <p:nvPr/>
        </p:nvSpPr>
        <p:spPr>
          <a:xfrm>
            <a:off x="201168" y="3474720"/>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8" name="Text 36"/>
          <p:cNvSpPr/>
          <p:nvPr/>
        </p:nvSpPr>
        <p:spPr>
          <a:xfrm>
            <a:off x="585216" y="3520440"/>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Relationship Analysis</a:t>
            </a:r>
            <a:endParaRPr lang="en-US" sz="1200" dirty="0"/>
          </a:p>
        </p:txBody>
      </p:sp>
      <p:sp>
        <p:nvSpPr>
          <p:cNvPr id="39" name="Text 37"/>
          <p:cNvSpPr/>
          <p:nvPr/>
        </p:nvSpPr>
        <p:spPr>
          <a:xfrm>
            <a:off x="585216" y="3822192"/>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Univariate, bivariate, and multivariate analysis of variables.</a:t>
            </a:r>
            <a:endParaRPr lang="en-US" sz="1000" dirty="0"/>
          </a:p>
        </p:txBody>
      </p:sp>
      <p:sp>
        <p:nvSpPr>
          <p:cNvPr id="40" name="Shape 38"/>
          <p:cNvSpPr/>
          <p:nvPr/>
        </p:nvSpPr>
        <p:spPr>
          <a:xfrm>
            <a:off x="2852928" y="3474720"/>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41" name="Shape 39"/>
          <p:cNvSpPr/>
          <p:nvPr/>
        </p:nvSpPr>
        <p:spPr>
          <a:xfrm>
            <a:off x="2852928" y="3474720"/>
            <a:ext cx="347472" cy="1188720"/>
          </a:xfrm>
          <a:prstGeom prst="rect">
            <a:avLst/>
          </a:prstGeom>
          <a:solidFill>
            <a:srgbClr val="0E6BA8"/>
          </a:solidFill>
          <a:ln w="12700">
            <a:solidFill>
              <a:srgbClr val="0E6BA8"/>
            </a:solidFill>
            <a:prstDash val="solid"/>
          </a:ln>
        </p:spPr>
      </p:sp>
      <p:sp>
        <p:nvSpPr>
          <p:cNvPr id="42" name="Text 40"/>
          <p:cNvSpPr/>
          <p:nvPr/>
        </p:nvSpPr>
        <p:spPr>
          <a:xfrm>
            <a:off x="2852928" y="3474720"/>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3" name="Text 41"/>
          <p:cNvSpPr/>
          <p:nvPr/>
        </p:nvSpPr>
        <p:spPr>
          <a:xfrm>
            <a:off x="3236976" y="3520440"/>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Insight Generation</a:t>
            </a:r>
            <a:endParaRPr lang="en-US" sz="1200" dirty="0"/>
          </a:p>
        </p:txBody>
      </p:sp>
      <p:sp>
        <p:nvSpPr>
          <p:cNvPr id="44" name="Text 42"/>
          <p:cNvSpPr/>
          <p:nvPr/>
        </p:nvSpPr>
        <p:spPr>
          <a:xfrm>
            <a:off x="3236976" y="3822192"/>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Identify trends, anomalies, form hypotheses to support decisions.</a:t>
            </a:r>
            <a:endParaRPr lang="en-US" sz="1000" dirty="0"/>
          </a:p>
        </p:txBody>
      </p:sp>
      <p:sp>
        <p:nvSpPr>
          <p:cNvPr id="45" name="Shape 43"/>
          <p:cNvSpPr/>
          <p:nvPr/>
        </p:nvSpPr>
        <p:spPr>
          <a:xfrm>
            <a:off x="5504688" y="3474720"/>
            <a:ext cx="2514600" cy="1188720"/>
          </a:xfrm>
          <a:prstGeom prst="rect">
            <a:avLst/>
          </a:prstGeom>
          <a:solidFill>
            <a:srgbClr val="F1F5F9"/>
          </a:solidFill>
          <a:ln w="12700">
            <a:solidFill>
              <a:srgbClr val="0E6BA8"/>
            </a:solidFill>
            <a:prstDash val="solid"/>
          </a:ln>
          <a:effectLst>
            <a:outerShdw blurRad="50800" dist="12700" dir="8100000" algn="bl" rotWithShape="0">
              <a:srgbClr val="000000">
                <a:alpha val="8000"/>
              </a:srgbClr>
            </a:outerShdw>
          </a:effectLst>
        </p:spPr>
      </p:sp>
      <p:sp>
        <p:nvSpPr>
          <p:cNvPr id="46" name="Shape 44"/>
          <p:cNvSpPr/>
          <p:nvPr/>
        </p:nvSpPr>
        <p:spPr>
          <a:xfrm>
            <a:off x="5504688" y="3474720"/>
            <a:ext cx="347472" cy="1188720"/>
          </a:xfrm>
          <a:prstGeom prst="rect">
            <a:avLst/>
          </a:prstGeom>
          <a:solidFill>
            <a:srgbClr val="0E6BA8"/>
          </a:solidFill>
          <a:ln w="12700">
            <a:solidFill>
              <a:srgbClr val="0E6BA8"/>
            </a:solidFill>
            <a:prstDash val="solid"/>
          </a:ln>
        </p:spPr>
      </p:sp>
      <p:sp>
        <p:nvSpPr>
          <p:cNvPr id="47" name="Text 45"/>
          <p:cNvSpPr/>
          <p:nvPr/>
        </p:nvSpPr>
        <p:spPr>
          <a:xfrm>
            <a:off x="5504688" y="3474720"/>
            <a:ext cx="347472" cy="11887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48" name="Text 46"/>
          <p:cNvSpPr/>
          <p:nvPr/>
        </p:nvSpPr>
        <p:spPr>
          <a:xfrm>
            <a:off x="5888736" y="3520440"/>
            <a:ext cx="2075688" cy="320040"/>
          </a:xfrm>
          <a:prstGeom prst="rect">
            <a:avLst/>
          </a:prstGeom>
          <a:noFill/>
          <a:ln/>
        </p:spPr>
        <p:txBody>
          <a:bodyPr wrap="square" lIns="0" tIns="0" rIns="0" bIns="0" rtlCol="0" anchor="ctr"/>
          <a:lstStyle/>
          <a:p>
            <a:pPr marL="0" indent="0">
              <a:buNone/>
            </a:pPr>
            <a:r>
              <a:rPr lang="en-US" sz="1200" b="1" dirty="0">
                <a:solidFill>
                  <a:srgbClr val="0A1931"/>
                </a:solidFill>
                <a:latin typeface="Calibri" pitchFamily="34" charset="0"/>
                <a:ea typeface="Calibri" pitchFamily="34" charset="-122"/>
                <a:cs typeface="Calibri" pitchFamily="34" charset="-120"/>
              </a:rPr>
              <a:t>Reporting &amp; Documentation</a:t>
            </a:r>
            <a:endParaRPr lang="en-US" sz="1200" dirty="0"/>
          </a:p>
        </p:txBody>
      </p:sp>
      <p:sp>
        <p:nvSpPr>
          <p:cNvPr id="49" name="Text 47"/>
          <p:cNvSpPr/>
          <p:nvPr/>
        </p:nvSpPr>
        <p:spPr>
          <a:xfrm>
            <a:off x="5888736" y="3822192"/>
            <a:ext cx="2075688" cy="7772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Summarize findings with tables, graphs; communicate to stakeholders.</a:t>
            </a:r>
            <a:endParaRPr lang="en-US" sz="1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Types of EDA: Univariate · Bivariate · Multivariate</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164592" y="822960"/>
            <a:ext cx="1463040" cy="347472"/>
          </a:xfrm>
          <a:prstGeom prst="rect">
            <a:avLst/>
          </a:prstGeom>
          <a:solidFill>
            <a:srgbClr val="0E6BA8"/>
          </a:solidFill>
          <a:ln w="6350">
            <a:solidFill>
              <a:srgbClr val="FFFFFF"/>
            </a:solidFill>
            <a:prstDash val="solid"/>
          </a:ln>
        </p:spPr>
      </p:sp>
      <p:sp>
        <p:nvSpPr>
          <p:cNvPr id="6" name="Text 4"/>
          <p:cNvSpPr/>
          <p:nvPr/>
        </p:nvSpPr>
        <p:spPr>
          <a:xfrm>
            <a:off x="210312" y="822960"/>
            <a:ext cx="13716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Aspect</a:t>
            </a:r>
            <a:endParaRPr lang="en-US" sz="1200" dirty="0"/>
          </a:p>
        </p:txBody>
      </p:sp>
      <p:sp>
        <p:nvSpPr>
          <p:cNvPr id="7" name="Shape 5"/>
          <p:cNvSpPr/>
          <p:nvPr/>
        </p:nvSpPr>
        <p:spPr>
          <a:xfrm>
            <a:off x="1627632" y="822960"/>
            <a:ext cx="2377440" cy="347472"/>
          </a:xfrm>
          <a:prstGeom prst="rect">
            <a:avLst/>
          </a:prstGeom>
          <a:solidFill>
            <a:srgbClr val="0E6BA8"/>
          </a:solidFill>
          <a:ln w="6350">
            <a:solidFill>
              <a:srgbClr val="FFFFFF"/>
            </a:solidFill>
            <a:prstDash val="solid"/>
          </a:ln>
        </p:spPr>
      </p:sp>
      <p:sp>
        <p:nvSpPr>
          <p:cNvPr id="8" name="Text 6"/>
          <p:cNvSpPr/>
          <p:nvPr/>
        </p:nvSpPr>
        <p:spPr>
          <a:xfrm>
            <a:off x="1673352" y="822960"/>
            <a:ext cx="22860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Univariate</a:t>
            </a:r>
            <a:endParaRPr lang="en-US" sz="1200" dirty="0"/>
          </a:p>
        </p:txBody>
      </p:sp>
      <p:sp>
        <p:nvSpPr>
          <p:cNvPr id="9" name="Shape 7"/>
          <p:cNvSpPr/>
          <p:nvPr/>
        </p:nvSpPr>
        <p:spPr>
          <a:xfrm>
            <a:off x="4005072" y="822960"/>
            <a:ext cx="2377440" cy="347472"/>
          </a:xfrm>
          <a:prstGeom prst="rect">
            <a:avLst/>
          </a:prstGeom>
          <a:solidFill>
            <a:srgbClr val="0E6BA8"/>
          </a:solidFill>
          <a:ln w="6350">
            <a:solidFill>
              <a:srgbClr val="FFFFFF"/>
            </a:solidFill>
            <a:prstDash val="solid"/>
          </a:ln>
        </p:spPr>
      </p:sp>
      <p:sp>
        <p:nvSpPr>
          <p:cNvPr id="10" name="Text 8"/>
          <p:cNvSpPr/>
          <p:nvPr/>
        </p:nvSpPr>
        <p:spPr>
          <a:xfrm>
            <a:off x="4050792" y="822960"/>
            <a:ext cx="22860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Bivariate</a:t>
            </a:r>
            <a:endParaRPr lang="en-US" sz="1200" dirty="0"/>
          </a:p>
        </p:txBody>
      </p:sp>
      <p:sp>
        <p:nvSpPr>
          <p:cNvPr id="11" name="Shape 9"/>
          <p:cNvSpPr/>
          <p:nvPr/>
        </p:nvSpPr>
        <p:spPr>
          <a:xfrm>
            <a:off x="6382512" y="822960"/>
            <a:ext cx="2377440" cy="347472"/>
          </a:xfrm>
          <a:prstGeom prst="rect">
            <a:avLst/>
          </a:prstGeom>
          <a:solidFill>
            <a:srgbClr val="0E6BA8"/>
          </a:solidFill>
          <a:ln w="6350">
            <a:solidFill>
              <a:srgbClr val="FFFFFF"/>
            </a:solidFill>
            <a:prstDash val="solid"/>
          </a:ln>
        </p:spPr>
      </p:sp>
      <p:sp>
        <p:nvSpPr>
          <p:cNvPr id="12" name="Text 10"/>
          <p:cNvSpPr/>
          <p:nvPr/>
        </p:nvSpPr>
        <p:spPr>
          <a:xfrm>
            <a:off x="6428232" y="822960"/>
            <a:ext cx="22860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Multivariate</a:t>
            </a:r>
            <a:endParaRPr lang="en-US" sz="1200" dirty="0"/>
          </a:p>
        </p:txBody>
      </p:sp>
      <p:sp>
        <p:nvSpPr>
          <p:cNvPr id="13" name="Shape 11"/>
          <p:cNvSpPr/>
          <p:nvPr/>
        </p:nvSpPr>
        <p:spPr>
          <a:xfrm>
            <a:off x="164592" y="1170432"/>
            <a:ext cx="1463040" cy="585216"/>
          </a:xfrm>
          <a:prstGeom prst="rect">
            <a:avLst/>
          </a:prstGeom>
          <a:solidFill>
            <a:srgbClr val="F1F5F9"/>
          </a:solidFill>
          <a:ln w="6350">
            <a:solidFill>
              <a:srgbClr val="CBD5E1"/>
            </a:solidFill>
            <a:prstDash val="solid"/>
          </a:ln>
        </p:spPr>
      </p:sp>
      <p:sp>
        <p:nvSpPr>
          <p:cNvPr id="14" name="Shape 12"/>
          <p:cNvSpPr/>
          <p:nvPr/>
        </p:nvSpPr>
        <p:spPr>
          <a:xfrm>
            <a:off x="1627632" y="1170432"/>
            <a:ext cx="2377440" cy="585216"/>
          </a:xfrm>
          <a:prstGeom prst="rect">
            <a:avLst/>
          </a:prstGeom>
          <a:solidFill>
            <a:srgbClr val="F1F5F9"/>
          </a:solidFill>
          <a:ln w="6350">
            <a:solidFill>
              <a:srgbClr val="CBD5E1"/>
            </a:solidFill>
            <a:prstDash val="solid"/>
          </a:ln>
        </p:spPr>
      </p:sp>
      <p:sp>
        <p:nvSpPr>
          <p:cNvPr id="15" name="Shape 13"/>
          <p:cNvSpPr/>
          <p:nvPr/>
        </p:nvSpPr>
        <p:spPr>
          <a:xfrm>
            <a:off x="4005072" y="1170432"/>
            <a:ext cx="2377440" cy="585216"/>
          </a:xfrm>
          <a:prstGeom prst="rect">
            <a:avLst/>
          </a:prstGeom>
          <a:solidFill>
            <a:srgbClr val="F1F5F9"/>
          </a:solidFill>
          <a:ln w="6350">
            <a:solidFill>
              <a:srgbClr val="CBD5E1"/>
            </a:solidFill>
            <a:prstDash val="solid"/>
          </a:ln>
        </p:spPr>
      </p:sp>
      <p:sp>
        <p:nvSpPr>
          <p:cNvPr id="16" name="Shape 14"/>
          <p:cNvSpPr/>
          <p:nvPr/>
        </p:nvSpPr>
        <p:spPr>
          <a:xfrm>
            <a:off x="6382512" y="1170432"/>
            <a:ext cx="2377440" cy="585216"/>
          </a:xfrm>
          <a:prstGeom prst="rect">
            <a:avLst/>
          </a:prstGeom>
          <a:solidFill>
            <a:srgbClr val="F1F5F9"/>
          </a:solidFill>
          <a:ln w="6350">
            <a:solidFill>
              <a:srgbClr val="CBD5E1"/>
            </a:solidFill>
            <a:prstDash val="solid"/>
          </a:ln>
        </p:spPr>
      </p:sp>
      <p:sp>
        <p:nvSpPr>
          <p:cNvPr id="17" name="Text 15"/>
          <p:cNvSpPr/>
          <p:nvPr/>
        </p:nvSpPr>
        <p:spPr>
          <a:xfrm>
            <a:off x="210312" y="1170432"/>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Definition</a:t>
            </a:r>
            <a:endParaRPr lang="en-US" sz="1000" dirty="0"/>
          </a:p>
        </p:txBody>
      </p:sp>
      <p:sp>
        <p:nvSpPr>
          <p:cNvPr id="18" name="Text 16"/>
          <p:cNvSpPr/>
          <p:nvPr/>
        </p:nvSpPr>
        <p:spPr>
          <a:xfrm>
            <a:off x="1691640" y="120700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Analysis of a single variable at a time</a:t>
            </a:r>
            <a:endParaRPr lang="en-US" sz="1000" dirty="0"/>
          </a:p>
        </p:txBody>
      </p:sp>
      <p:sp>
        <p:nvSpPr>
          <p:cNvPr id="19" name="Text 17"/>
          <p:cNvSpPr/>
          <p:nvPr/>
        </p:nvSpPr>
        <p:spPr>
          <a:xfrm>
            <a:off x="4069080" y="120700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Relationship between exactly two variables</a:t>
            </a:r>
            <a:endParaRPr lang="en-US" sz="1000" dirty="0"/>
          </a:p>
        </p:txBody>
      </p:sp>
      <p:sp>
        <p:nvSpPr>
          <p:cNvPr id="20" name="Text 18"/>
          <p:cNvSpPr/>
          <p:nvPr/>
        </p:nvSpPr>
        <p:spPr>
          <a:xfrm>
            <a:off x="6446520" y="120700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Interactions among three or more variables simultaneously</a:t>
            </a:r>
            <a:endParaRPr lang="en-US" sz="1000" dirty="0"/>
          </a:p>
        </p:txBody>
      </p:sp>
      <p:sp>
        <p:nvSpPr>
          <p:cNvPr id="21" name="Shape 19"/>
          <p:cNvSpPr/>
          <p:nvPr/>
        </p:nvSpPr>
        <p:spPr>
          <a:xfrm>
            <a:off x="164592" y="1755648"/>
            <a:ext cx="1463040" cy="585216"/>
          </a:xfrm>
          <a:prstGeom prst="rect">
            <a:avLst/>
          </a:prstGeom>
          <a:solidFill>
            <a:srgbClr val="FFFFFF"/>
          </a:solidFill>
          <a:ln w="6350">
            <a:solidFill>
              <a:srgbClr val="CBD5E1"/>
            </a:solidFill>
            <a:prstDash val="solid"/>
          </a:ln>
        </p:spPr>
      </p:sp>
      <p:sp>
        <p:nvSpPr>
          <p:cNvPr id="22" name="Shape 20"/>
          <p:cNvSpPr/>
          <p:nvPr/>
        </p:nvSpPr>
        <p:spPr>
          <a:xfrm>
            <a:off x="1627632" y="1755648"/>
            <a:ext cx="2377440" cy="585216"/>
          </a:xfrm>
          <a:prstGeom prst="rect">
            <a:avLst/>
          </a:prstGeom>
          <a:solidFill>
            <a:srgbClr val="FFFFFF"/>
          </a:solidFill>
          <a:ln w="6350">
            <a:solidFill>
              <a:srgbClr val="CBD5E1"/>
            </a:solidFill>
            <a:prstDash val="solid"/>
          </a:ln>
        </p:spPr>
      </p:sp>
      <p:sp>
        <p:nvSpPr>
          <p:cNvPr id="23" name="Shape 21"/>
          <p:cNvSpPr/>
          <p:nvPr/>
        </p:nvSpPr>
        <p:spPr>
          <a:xfrm>
            <a:off x="4005072" y="1755648"/>
            <a:ext cx="2377440" cy="585216"/>
          </a:xfrm>
          <a:prstGeom prst="rect">
            <a:avLst/>
          </a:prstGeom>
          <a:solidFill>
            <a:srgbClr val="FFFFFF"/>
          </a:solidFill>
          <a:ln w="6350">
            <a:solidFill>
              <a:srgbClr val="CBD5E1"/>
            </a:solidFill>
            <a:prstDash val="solid"/>
          </a:ln>
        </p:spPr>
      </p:sp>
      <p:sp>
        <p:nvSpPr>
          <p:cNvPr id="24" name="Shape 22"/>
          <p:cNvSpPr/>
          <p:nvPr/>
        </p:nvSpPr>
        <p:spPr>
          <a:xfrm>
            <a:off x="6382512" y="1755648"/>
            <a:ext cx="2377440" cy="585216"/>
          </a:xfrm>
          <a:prstGeom prst="rect">
            <a:avLst/>
          </a:prstGeom>
          <a:solidFill>
            <a:srgbClr val="FFFFFF"/>
          </a:solidFill>
          <a:ln w="6350">
            <a:solidFill>
              <a:srgbClr val="CBD5E1"/>
            </a:solidFill>
            <a:prstDash val="solid"/>
          </a:ln>
        </p:spPr>
      </p:sp>
      <p:sp>
        <p:nvSpPr>
          <p:cNvPr id="25" name="Text 23"/>
          <p:cNvSpPr/>
          <p:nvPr/>
        </p:nvSpPr>
        <p:spPr>
          <a:xfrm>
            <a:off x="210312" y="1755648"/>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Goal</a:t>
            </a:r>
            <a:endParaRPr lang="en-US" sz="1000" dirty="0"/>
          </a:p>
        </p:txBody>
      </p:sp>
      <p:sp>
        <p:nvSpPr>
          <p:cNvPr id="26" name="Text 24"/>
          <p:cNvSpPr/>
          <p:nvPr/>
        </p:nvSpPr>
        <p:spPr>
          <a:xfrm>
            <a:off x="1691640" y="1792224"/>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Understand distribution, central tendency &amp; spread</a:t>
            </a:r>
            <a:endParaRPr lang="en-US" sz="1000" dirty="0"/>
          </a:p>
        </p:txBody>
      </p:sp>
      <p:sp>
        <p:nvSpPr>
          <p:cNvPr id="27" name="Text 25"/>
          <p:cNvSpPr/>
          <p:nvPr/>
        </p:nvSpPr>
        <p:spPr>
          <a:xfrm>
            <a:off x="4069080" y="1792224"/>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Find correlation, association or dependency</a:t>
            </a:r>
            <a:endParaRPr lang="en-US" sz="1000" dirty="0"/>
          </a:p>
        </p:txBody>
      </p:sp>
      <p:sp>
        <p:nvSpPr>
          <p:cNvPr id="28" name="Text 26"/>
          <p:cNvSpPr/>
          <p:nvPr/>
        </p:nvSpPr>
        <p:spPr>
          <a:xfrm>
            <a:off x="6446520" y="1792224"/>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Discover complex patterns and variable interactions</a:t>
            </a:r>
            <a:endParaRPr lang="en-US" sz="1000" dirty="0"/>
          </a:p>
        </p:txBody>
      </p:sp>
      <p:sp>
        <p:nvSpPr>
          <p:cNvPr id="29" name="Shape 27"/>
          <p:cNvSpPr/>
          <p:nvPr/>
        </p:nvSpPr>
        <p:spPr>
          <a:xfrm>
            <a:off x="164592" y="2340864"/>
            <a:ext cx="1463040" cy="585216"/>
          </a:xfrm>
          <a:prstGeom prst="rect">
            <a:avLst/>
          </a:prstGeom>
          <a:solidFill>
            <a:srgbClr val="F1F5F9"/>
          </a:solidFill>
          <a:ln w="6350">
            <a:solidFill>
              <a:srgbClr val="CBD5E1"/>
            </a:solidFill>
            <a:prstDash val="solid"/>
          </a:ln>
        </p:spPr>
      </p:sp>
      <p:sp>
        <p:nvSpPr>
          <p:cNvPr id="30" name="Shape 28"/>
          <p:cNvSpPr/>
          <p:nvPr/>
        </p:nvSpPr>
        <p:spPr>
          <a:xfrm>
            <a:off x="1627632" y="2340864"/>
            <a:ext cx="2377440" cy="585216"/>
          </a:xfrm>
          <a:prstGeom prst="rect">
            <a:avLst/>
          </a:prstGeom>
          <a:solidFill>
            <a:srgbClr val="F1F5F9"/>
          </a:solidFill>
          <a:ln w="6350">
            <a:solidFill>
              <a:srgbClr val="CBD5E1"/>
            </a:solidFill>
            <a:prstDash val="solid"/>
          </a:ln>
        </p:spPr>
      </p:sp>
      <p:sp>
        <p:nvSpPr>
          <p:cNvPr id="31" name="Shape 29"/>
          <p:cNvSpPr/>
          <p:nvPr/>
        </p:nvSpPr>
        <p:spPr>
          <a:xfrm>
            <a:off x="4005072" y="2340864"/>
            <a:ext cx="2377440" cy="585216"/>
          </a:xfrm>
          <a:prstGeom prst="rect">
            <a:avLst/>
          </a:prstGeom>
          <a:solidFill>
            <a:srgbClr val="F1F5F9"/>
          </a:solidFill>
          <a:ln w="6350">
            <a:solidFill>
              <a:srgbClr val="CBD5E1"/>
            </a:solidFill>
            <a:prstDash val="solid"/>
          </a:ln>
        </p:spPr>
      </p:sp>
      <p:sp>
        <p:nvSpPr>
          <p:cNvPr id="32" name="Shape 30"/>
          <p:cNvSpPr/>
          <p:nvPr/>
        </p:nvSpPr>
        <p:spPr>
          <a:xfrm>
            <a:off x="6382512" y="2340864"/>
            <a:ext cx="2377440" cy="585216"/>
          </a:xfrm>
          <a:prstGeom prst="rect">
            <a:avLst/>
          </a:prstGeom>
          <a:solidFill>
            <a:srgbClr val="F1F5F9"/>
          </a:solidFill>
          <a:ln w="6350">
            <a:solidFill>
              <a:srgbClr val="CBD5E1"/>
            </a:solidFill>
            <a:prstDash val="solid"/>
          </a:ln>
        </p:spPr>
      </p:sp>
      <p:sp>
        <p:nvSpPr>
          <p:cNvPr id="33" name="Text 31"/>
          <p:cNvSpPr/>
          <p:nvPr/>
        </p:nvSpPr>
        <p:spPr>
          <a:xfrm>
            <a:off x="210312" y="2340864"/>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Key Methods</a:t>
            </a:r>
            <a:endParaRPr lang="en-US" sz="1000" dirty="0"/>
          </a:p>
        </p:txBody>
      </p:sp>
      <p:sp>
        <p:nvSpPr>
          <p:cNvPr id="34" name="Text 32"/>
          <p:cNvSpPr/>
          <p:nvPr/>
        </p:nvSpPr>
        <p:spPr>
          <a:xfrm>
            <a:off x="1691640" y="2377440"/>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Histogram, Box Plot, Bar Chart, Mean/Median/Mode</a:t>
            </a:r>
            <a:endParaRPr lang="en-US" sz="1000" dirty="0"/>
          </a:p>
        </p:txBody>
      </p:sp>
      <p:sp>
        <p:nvSpPr>
          <p:cNvPr id="35" name="Text 33"/>
          <p:cNvSpPr/>
          <p:nvPr/>
        </p:nvSpPr>
        <p:spPr>
          <a:xfrm>
            <a:off x="4069080" y="2377440"/>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Scatter Plot, Correlation, Cross-Tab, Line Graph</a:t>
            </a:r>
            <a:endParaRPr lang="en-US" sz="1000" dirty="0"/>
          </a:p>
        </p:txBody>
      </p:sp>
      <p:sp>
        <p:nvSpPr>
          <p:cNvPr id="36" name="Text 34"/>
          <p:cNvSpPr/>
          <p:nvPr/>
        </p:nvSpPr>
        <p:spPr>
          <a:xfrm>
            <a:off x="6446520" y="2377440"/>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Pair Plot, Heatmap, PCA, Time-Series, 3D Scatter</a:t>
            </a:r>
            <a:endParaRPr lang="en-US" sz="1000" dirty="0"/>
          </a:p>
        </p:txBody>
      </p:sp>
      <p:sp>
        <p:nvSpPr>
          <p:cNvPr id="37" name="Shape 35"/>
          <p:cNvSpPr/>
          <p:nvPr/>
        </p:nvSpPr>
        <p:spPr>
          <a:xfrm>
            <a:off x="164592" y="2926080"/>
            <a:ext cx="1463040" cy="585216"/>
          </a:xfrm>
          <a:prstGeom prst="rect">
            <a:avLst/>
          </a:prstGeom>
          <a:solidFill>
            <a:srgbClr val="FFFFFF"/>
          </a:solidFill>
          <a:ln w="6350">
            <a:solidFill>
              <a:srgbClr val="CBD5E1"/>
            </a:solidFill>
            <a:prstDash val="solid"/>
          </a:ln>
        </p:spPr>
      </p:sp>
      <p:sp>
        <p:nvSpPr>
          <p:cNvPr id="38" name="Shape 36"/>
          <p:cNvSpPr/>
          <p:nvPr/>
        </p:nvSpPr>
        <p:spPr>
          <a:xfrm>
            <a:off x="1627632" y="2926080"/>
            <a:ext cx="2377440" cy="585216"/>
          </a:xfrm>
          <a:prstGeom prst="rect">
            <a:avLst/>
          </a:prstGeom>
          <a:solidFill>
            <a:srgbClr val="FFFFFF"/>
          </a:solidFill>
          <a:ln w="6350">
            <a:solidFill>
              <a:srgbClr val="CBD5E1"/>
            </a:solidFill>
            <a:prstDash val="solid"/>
          </a:ln>
        </p:spPr>
      </p:sp>
      <p:sp>
        <p:nvSpPr>
          <p:cNvPr id="39" name="Shape 37"/>
          <p:cNvSpPr/>
          <p:nvPr/>
        </p:nvSpPr>
        <p:spPr>
          <a:xfrm>
            <a:off x="4005072" y="2926080"/>
            <a:ext cx="2377440" cy="585216"/>
          </a:xfrm>
          <a:prstGeom prst="rect">
            <a:avLst/>
          </a:prstGeom>
          <a:solidFill>
            <a:srgbClr val="FFFFFF"/>
          </a:solidFill>
          <a:ln w="6350">
            <a:solidFill>
              <a:srgbClr val="CBD5E1"/>
            </a:solidFill>
            <a:prstDash val="solid"/>
          </a:ln>
        </p:spPr>
      </p:sp>
      <p:sp>
        <p:nvSpPr>
          <p:cNvPr id="40" name="Shape 38"/>
          <p:cNvSpPr/>
          <p:nvPr/>
        </p:nvSpPr>
        <p:spPr>
          <a:xfrm>
            <a:off x="6382512" y="2926080"/>
            <a:ext cx="2377440" cy="585216"/>
          </a:xfrm>
          <a:prstGeom prst="rect">
            <a:avLst/>
          </a:prstGeom>
          <a:solidFill>
            <a:srgbClr val="FFFFFF"/>
          </a:solidFill>
          <a:ln w="6350">
            <a:solidFill>
              <a:srgbClr val="CBD5E1"/>
            </a:solidFill>
            <a:prstDash val="solid"/>
          </a:ln>
        </p:spPr>
      </p:sp>
      <p:sp>
        <p:nvSpPr>
          <p:cNvPr id="41" name="Text 39"/>
          <p:cNvSpPr/>
          <p:nvPr/>
        </p:nvSpPr>
        <p:spPr>
          <a:xfrm>
            <a:off x="210312" y="2926080"/>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Our Dataset</a:t>
            </a:r>
            <a:endParaRPr lang="en-US" sz="1000" dirty="0"/>
          </a:p>
        </p:txBody>
      </p:sp>
      <p:sp>
        <p:nvSpPr>
          <p:cNvPr id="42" name="Text 40"/>
          <p:cNvSpPr/>
          <p:nvPr/>
        </p:nvSpPr>
        <p:spPr>
          <a:xfrm>
            <a:off x="1691640" y="2962656"/>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Units_Sold distribution; Price spread per brand</a:t>
            </a:r>
            <a:endParaRPr lang="en-US" sz="1000" dirty="0"/>
          </a:p>
        </p:txBody>
      </p:sp>
      <p:sp>
        <p:nvSpPr>
          <p:cNvPr id="43" name="Text 41"/>
          <p:cNvSpPr/>
          <p:nvPr/>
        </p:nvSpPr>
        <p:spPr>
          <a:xfrm>
            <a:off x="4069080" y="2962656"/>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Price vs Units Sold; Mileage vs Customer Rating</a:t>
            </a:r>
            <a:endParaRPr lang="en-US" sz="1000" dirty="0"/>
          </a:p>
        </p:txBody>
      </p:sp>
      <p:sp>
        <p:nvSpPr>
          <p:cNvPr id="44" name="Text 42"/>
          <p:cNvSpPr/>
          <p:nvPr/>
        </p:nvSpPr>
        <p:spPr>
          <a:xfrm>
            <a:off x="6446520" y="2962656"/>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Price + Mileage + Rating + Brand → Units Sold</a:t>
            </a:r>
            <a:endParaRPr lang="en-US" sz="1000" dirty="0"/>
          </a:p>
        </p:txBody>
      </p:sp>
      <p:sp>
        <p:nvSpPr>
          <p:cNvPr id="45" name="Shape 43"/>
          <p:cNvSpPr/>
          <p:nvPr/>
        </p:nvSpPr>
        <p:spPr>
          <a:xfrm>
            <a:off x="164592" y="3511296"/>
            <a:ext cx="1463040" cy="585216"/>
          </a:xfrm>
          <a:prstGeom prst="rect">
            <a:avLst/>
          </a:prstGeom>
          <a:solidFill>
            <a:srgbClr val="F1F5F9"/>
          </a:solidFill>
          <a:ln w="6350">
            <a:solidFill>
              <a:srgbClr val="CBD5E1"/>
            </a:solidFill>
            <a:prstDash val="solid"/>
          </a:ln>
        </p:spPr>
      </p:sp>
      <p:sp>
        <p:nvSpPr>
          <p:cNvPr id="46" name="Shape 44"/>
          <p:cNvSpPr/>
          <p:nvPr/>
        </p:nvSpPr>
        <p:spPr>
          <a:xfrm>
            <a:off x="1627632" y="3511296"/>
            <a:ext cx="2377440" cy="585216"/>
          </a:xfrm>
          <a:prstGeom prst="rect">
            <a:avLst/>
          </a:prstGeom>
          <a:solidFill>
            <a:srgbClr val="F1F5F9"/>
          </a:solidFill>
          <a:ln w="6350">
            <a:solidFill>
              <a:srgbClr val="CBD5E1"/>
            </a:solidFill>
            <a:prstDash val="solid"/>
          </a:ln>
        </p:spPr>
      </p:sp>
      <p:sp>
        <p:nvSpPr>
          <p:cNvPr id="47" name="Shape 45"/>
          <p:cNvSpPr/>
          <p:nvPr/>
        </p:nvSpPr>
        <p:spPr>
          <a:xfrm>
            <a:off x="4005072" y="3511296"/>
            <a:ext cx="2377440" cy="585216"/>
          </a:xfrm>
          <a:prstGeom prst="rect">
            <a:avLst/>
          </a:prstGeom>
          <a:solidFill>
            <a:srgbClr val="F1F5F9"/>
          </a:solidFill>
          <a:ln w="6350">
            <a:solidFill>
              <a:srgbClr val="CBD5E1"/>
            </a:solidFill>
            <a:prstDash val="solid"/>
          </a:ln>
        </p:spPr>
      </p:sp>
      <p:sp>
        <p:nvSpPr>
          <p:cNvPr id="48" name="Shape 46"/>
          <p:cNvSpPr/>
          <p:nvPr/>
        </p:nvSpPr>
        <p:spPr>
          <a:xfrm>
            <a:off x="6382512" y="3511296"/>
            <a:ext cx="2377440" cy="585216"/>
          </a:xfrm>
          <a:prstGeom prst="rect">
            <a:avLst/>
          </a:prstGeom>
          <a:solidFill>
            <a:srgbClr val="F1F5F9"/>
          </a:solidFill>
          <a:ln w="6350">
            <a:solidFill>
              <a:srgbClr val="CBD5E1"/>
            </a:solidFill>
            <a:prstDash val="solid"/>
          </a:ln>
        </p:spPr>
      </p:sp>
      <p:sp>
        <p:nvSpPr>
          <p:cNvPr id="49" name="Text 47"/>
          <p:cNvSpPr/>
          <p:nvPr/>
        </p:nvSpPr>
        <p:spPr>
          <a:xfrm>
            <a:off x="210312" y="3511296"/>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Insight</a:t>
            </a:r>
            <a:endParaRPr lang="en-US" sz="1000" dirty="0"/>
          </a:p>
        </p:txBody>
      </p:sp>
      <p:sp>
        <p:nvSpPr>
          <p:cNvPr id="50" name="Text 48"/>
          <p:cNvSpPr/>
          <p:nvPr/>
        </p:nvSpPr>
        <p:spPr>
          <a:xfrm>
            <a:off x="1691640" y="3547872"/>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Maruti sells most units; outliers found at ₹2L &amp; ₹98L</a:t>
            </a:r>
            <a:endParaRPr lang="en-US" sz="1000" dirty="0"/>
          </a:p>
        </p:txBody>
      </p:sp>
      <p:sp>
        <p:nvSpPr>
          <p:cNvPr id="51" name="Text 49"/>
          <p:cNvSpPr/>
          <p:nvPr/>
        </p:nvSpPr>
        <p:spPr>
          <a:xfrm>
            <a:off x="4069080" y="3547872"/>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Higher price negatively correlates with units sold</a:t>
            </a:r>
            <a:endParaRPr lang="en-US" sz="1000" dirty="0"/>
          </a:p>
        </p:txBody>
      </p:sp>
      <p:sp>
        <p:nvSpPr>
          <p:cNvPr id="52" name="Text 50"/>
          <p:cNvSpPr/>
          <p:nvPr/>
        </p:nvSpPr>
        <p:spPr>
          <a:xfrm>
            <a:off x="6446520" y="3547872"/>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Brand + Segment + Fuel together drive sales volume</a:t>
            </a:r>
            <a:endParaRPr lang="en-US" sz="1000" dirty="0"/>
          </a:p>
        </p:txBody>
      </p:sp>
      <p:sp>
        <p:nvSpPr>
          <p:cNvPr id="53" name="Shape 51"/>
          <p:cNvSpPr/>
          <p:nvPr/>
        </p:nvSpPr>
        <p:spPr>
          <a:xfrm>
            <a:off x="164592" y="4096512"/>
            <a:ext cx="1463040" cy="585216"/>
          </a:xfrm>
          <a:prstGeom prst="rect">
            <a:avLst/>
          </a:prstGeom>
          <a:solidFill>
            <a:srgbClr val="FFFFFF"/>
          </a:solidFill>
          <a:ln w="6350">
            <a:solidFill>
              <a:srgbClr val="CBD5E1"/>
            </a:solidFill>
            <a:prstDash val="solid"/>
          </a:ln>
        </p:spPr>
      </p:sp>
      <p:sp>
        <p:nvSpPr>
          <p:cNvPr id="54" name="Shape 52"/>
          <p:cNvSpPr/>
          <p:nvPr/>
        </p:nvSpPr>
        <p:spPr>
          <a:xfrm>
            <a:off x="1627632" y="4096512"/>
            <a:ext cx="2377440" cy="585216"/>
          </a:xfrm>
          <a:prstGeom prst="rect">
            <a:avLst/>
          </a:prstGeom>
          <a:solidFill>
            <a:srgbClr val="FFFFFF"/>
          </a:solidFill>
          <a:ln w="6350">
            <a:solidFill>
              <a:srgbClr val="CBD5E1"/>
            </a:solidFill>
            <a:prstDash val="solid"/>
          </a:ln>
        </p:spPr>
      </p:sp>
      <p:sp>
        <p:nvSpPr>
          <p:cNvPr id="55" name="Shape 53"/>
          <p:cNvSpPr/>
          <p:nvPr/>
        </p:nvSpPr>
        <p:spPr>
          <a:xfrm>
            <a:off x="4005072" y="4096512"/>
            <a:ext cx="2377440" cy="585216"/>
          </a:xfrm>
          <a:prstGeom prst="rect">
            <a:avLst/>
          </a:prstGeom>
          <a:solidFill>
            <a:srgbClr val="FFFFFF"/>
          </a:solidFill>
          <a:ln w="6350">
            <a:solidFill>
              <a:srgbClr val="CBD5E1"/>
            </a:solidFill>
            <a:prstDash val="solid"/>
          </a:ln>
        </p:spPr>
      </p:sp>
      <p:sp>
        <p:nvSpPr>
          <p:cNvPr id="56" name="Shape 54"/>
          <p:cNvSpPr/>
          <p:nvPr/>
        </p:nvSpPr>
        <p:spPr>
          <a:xfrm>
            <a:off x="6382512" y="4096512"/>
            <a:ext cx="2377440" cy="585216"/>
          </a:xfrm>
          <a:prstGeom prst="rect">
            <a:avLst/>
          </a:prstGeom>
          <a:solidFill>
            <a:srgbClr val="FFFFFF"/>
          </a:solidFill>
          <a:ln w="6350">
            <a:solidFill>
              <a:srgbClr val="CBD5E1"/>
            </a:solidFill>
            <a:prstDash val="solid"/>
          </a:ln>
        </p:spPr>
      </p:sp>
      <p:sp>
        <p:nvSpPr>
          <p:cNvPr id="57" name="Text 55"/>
          <p:cNvSpPr/>
          <p:nvPr/>
        </p:nvSpPr>
        <p:spPr>
          <a:xfrm>
            <a:off x="210312" y="4096512"/>
            <a:ext cx="1371600" cy="585216"/>
          </a:xfrm>
          <a:prstGeom prst="rect">
            <a:avLst/>
          </a:prstGeom>
          <a:noFill/>
          <a:ln/>
        </p:spPr>
        <p:txBody>
          <a:bodyPr wrap="square" lIns="0" tIns="0" rIns="0" bIns="0" rtlCol="0" anchor="ctr"/>
          <a:lstStyle/>
          <a:p>
            <a:pPr marL="0" indent="0">
              <a:buNone/>
            </a:pPr>
            <a:r>
              <a:rPr lang="en-US" sz="1000" b="1" dirty="0">
                <a:solidFill>
                  <a:srgbClr val="0A1931"/>
                </a:solidFill>
                <a:latin typeface="Calibri" pitchFamily="34" charset="0"/>
                <a:ea typeface="Calibri" pitchFamily="34" charset="-122"/>
                <a:cs typeface="Calibri" pitchFamily="34" charset="-120"/>
              </a:rPr>
              <a:t>Limitation</a:t>
            </a:r>
            <a:endParaRPr lang="en-US" sz="1000" dirty="0"/>
          </a:p>
        </p:txBody>
      </p:sp>
      <p:sp>
        <p:nvSpPr>
          <p:cNvPr id="58" name="Text 56"/>
          <p:cNvSpPr/>
          <p:nvPr/>
        </p:nvSpPr>
        <p:spPr>
          <a:xfrm>
            <a:off x="1691640" y="413308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Cannot reveal relationships between variables</a:t>
            </a:r>
            <a:endParaRPr lang="en-US" sz="1000" dirty="0"/>
          </a:p>
        </p:txBody>
      </p:sp>
      <p:sp>
        <p:nvSpPr>
          <p:cNvPr id="59" name="Text 57"/>
          <p:cNvSpPr/>
          <p:nvPr/>
        </p:nvSpPr>
        <p:spPr>
          <a:xfrm>
            <a:off x="4069080" y="413308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Ignores the effect of other variables</a:t>
            </a:r>
            <a:endParaRPr lang="en-US" sz="1000" dirty="0"/>
          </a:p>
        </p:txBody>
      </p:sp>
      <p:sp>
        <p:nvSpPr>
          <p:cNvPr id="60" name="Text 58"/>
          <p:cNvSpPr/>
          <p:nvPr/>
        </p:nvSpPr>
        <p:spPr>
          <a:xfrm>
            <a:off x="6446520" y="4133088"/>
            <a:ext cx="2249424" cy="51206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Complex to interpret; requires ML for full use</a:t>
            </a:r>
            <a:endParaRPr lang="en-US" sz="1000" dirty="0"/>
          </a:p>
        </p:txBody>
      </p:sp>
      <p:sp>
        <p:nvSpPr>
          <p:cNvPr id="61" name="Shape 59"/>
          <p:cNvSpPr/>
          <p:nvPr/>
        </p:nvSpPr>
        <p:spPr>
          <a:xfrm>
            <a:off x="8823960" y="804672"/>
            <a:ext cx="182880" cy="4178808"/>
          </a:xfrm>
          <a:prstGeom prst="rect">
            <a:avLst/>
          </a:prstGeom>
          <a:solidFill>
            <a:srgbClr val="E8F4FD"/>
          </a:solidFill>
          <a:ln w="19050">
            <a:solidFill>
              <a:srgbClr val="0E6BA8"/>
            </a:solidFill>
            <a:prstDash val="dash"/>
          </a:ln>
        </p:spPr>
      </p:sp>
      <p:sp>
        <p:nvSpPr>
          <p:cNvPr id="62" name="Text 60"/>
          <p:cNvSpPr/>
          <p:nvPr/>
        </p:nvSpPr>
        <p:spPr>
          <a:xfrm>
            <a:off x="8823960" y="804672"/>
            <a:ext cx="182880" cy="4178808"/>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  ]</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Data Types Classification in Our Dataset</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164592" y="822960"/>
            <a:ext cx="2011680" cy="320040"/>
          </a:xfrm>
          <a:prstGeom prst="rect">
            <a:avLst/>
          </a:prstGeom>
          <a:solidFill>
            <a:srgbClr val="0A1931"/>
          </a:solidFill>
          <a:ln w="6350">
            <a:solidFill>
              <a:srgbClr val="FFFFFF"/>
            </a:solidFill>
            <a:prstDash val="solid"/>
          </a:ln>
        </p:spPr>
      </p:sp>
      <p:sp>
        <p:nvSpPr>
          <p:cNvPr id="6" name="Text 4"/>
          <p:cNvSpPr/>
          <p:nvPr/>
        </p:nvSpPr>
        <p:spPr>
          <a:xfrm>
            <a:off x="201168" y="822960"/>
            <a:ext cx="193852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p>
        </p:txBody>
      </p:sp>
      <p:sp>
        <p:nvSpPr>
          <p:cNvPr id="7" name="Shape 5"/>
          <p:cNvSpPr/>
          <p:nvPr/>
        </p:nvSpPr>
        <p:spPr>
          <a:xfrm>
            <a:off x="2176272" y="822960"/>
            <a:ext cx="1371600" cy="320040"/>
          </a:xfrm>
          <a:prstGeom prst="rect">
            <a:avLst/>
          </a:prstGeom>
          <a:solidFill>
            <a:srgbClr val="0A1931"/>
          </a:solidFill>
          <a:ln w="6350">
            <a:solidFill>
              <a:srgbClr val="FFFFFF"/>
            </a:solidFill>
            <a:prstDash val="solid"/>
          </a:ln>
        </p:spPr>
      </p:sp>
      <p:sp>
        <p:nvSpPr>
          <p:cNvPr id="8" name="Text 6"/>
          <p:cNvSpPr/>
          <p:nvPr/>
        </p:nvSpPr>
        <p:spPr>
          <a:xfrm>
            <a:off x="2212848" y="822960"/>
            <a:ext cx="129844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Type</a:t>
            </a:r>
            <a:endParaRPr lang="en-US" sz="1100" dirty="0"/>
          </a:p>
        </p:txBody>
      </p:sp>
      <p:sp>
        <p:nvSpPr>
          <p:cNvPr id="9" name="Shape 7"/>
          <p:cNvSpPr/>
          <p:nvPr/>
        </p:nvSpPr>
        <p:spPr>
          <a:xfrm>
            <a:off x="3547872" y="822960"/>
            <a:ext cx="1417320" cy="320040"/>
          </a:xfrm>
          <a:prstGeom prst="rect">
            <a:avLst/>
          </a:prstGeom>
          <a:solidFill>
            <a:srgbClr val="0A1931"/>
          </a:solidFill>
          <a:ln w="6350">
            <a:solidFill>
              <a:srgbClr val="FFFFFF"/>
            </a:solidFill>
            <a:prstDash val="solid"/>
          </a:ln>
        </p:spPr>
      </p:sp>
      <p:sp>
        <p:nvSpPr>
          <p:cNvPr id="10" name="Text 8"/>
          <p:cNvSpPr/>
          <p:nvPr/>
        </p:nvSpPr>
        <p:spPr>
          <a:xfrm>
            <a:off x="3584448" y="822960"/>
            <a:ext cx="134416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Sub-Type</a:t>
            </a:r>
            <a:endParaRPr lang="en-US" sz="1100" dirty="0"/>
          </a:p>
        </p:txBody>
      </p:sp>
      <p:sp>
        <p:nvSpPr>
          <p:cNvPr id="11" name="Shape 9"/>
          <p:cNvSpPr/>
          <p:nvPr/>
        </p:nvSpPr>
        <p:spPr>
          <a:xfrm>
            <a:off x="4965192" y="822960"/>
            <a:ext cx="1371600" cy="320040"/>
          </a:xfrm>
          <a:prstGeom prst="rect">
            <a:avLst/>
          </a:prstGeom>
          <a:solidFill>
            <a:srgbClr val="0A1931"/>
          </a:solidFill>
          <a:ln w="6350">
            <a:solidFill>
              <a:srgbClr val="FFFFFF"/>
            </a:solidFill>
            <a:prstDash val="solid"/>
          </a:ln>
        </p:spPr>
      </p:sp>
      <p:sp>
        <p:nvSpPr>
          <p:cNvPr id="12" name="Text 10"/>
          <p:cNvSpPr/>
          <p:nvPr/>
        </p:nvSpPr>
        <p:spPr>
          <a:xfrm>
            <a:off x="5001768" y="822960"/>
            <a:ext cx="1298448"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Scale</a:t>
            </a:r>
            <a:endParaRPr lang="en-US" sz="1100" dirty="0"/>
          </a:p>
        </p:txBody>
      </p:sp>
      <p:sp>
        <p:nvSpPr>
          <p:cNvPr id="13" name="Shape 11"/>
          <p:cNvSpPr/>
          <p:nvPr/>
        </p:nvSpPr>
        <p:spPr>
          <a:xfrm>
            <a:off x="164592" y="1143000"/>
            <a:ext cx="2011680" cy="338328"/>
          </a:xfrm>
          <a:prstGeom prst="rect">
            <a:avLst/>
          </a:prstGeom>
          <a:solidFill>
            <a:srgbClr val="F1F5F9"/>
          </a:solidFill>
          <a:ln w="6350">
            <a:solidFill>
              <a:srgbClr val="CBD5E1"/>
            </a:solidFill>
            <a:prstDash val="solid"/>
          </a:ln>
        </p:spPr>
      </p:sp>
      <p:sp>
        <p:nvSpPr>
          <p:cNvPr id="14" name="Shape 12"/>
          <p:cNvSpPr/>
          <p:nvPr/>
        </p:nvSpPr>
        <p:spPr>
          <a:xfrm>
            <a:off x="2176272" y="1143000"/>
            <a:ext cx="1371600" cy="338328"/>
          </a:xfrm>
          <a:prstGeom prst="rect">
            <a:avLst/>
          </a:prstGeom>
          <a:solidFill>
            <a:srgbClr val="F1F5F9"/>
          </a:solidFill>
          <a:ln w="6350">
            <a:solidFill>
              <a:srgbClr val="CBD5E1"/>
            </a:solidFill>
            <a:prstDash val="solid"/>
          </a:ln>
        </p:spPr>
      </p:sp>
      <p:sp>
        <p:nvSpPr>
          <p:cNvPr id="15" name="Shape 13"/>
          <p:cNvSpPr/>
          <p:nvPr/>
        </p:nvSpPr>
        <p:spPr>
          <a:xfrm>
            <a:off x="3547872" y="1143000"/>
            <a:ext cx="1417320" cy="338328"/>
          </a:xfrm>
          <a:prstGeom prst="rect">
            <a:avLst/>
          </a:prstGeom>
          <a:solidFill>
            <a:srgbClr val="F1F5F9"/>
          </a:solidFill>
          <a:ln w="6350">
            <a:solidFill>
              <a:srgbClr val="CBD5E1"/>
            </a:solidFill>
            <a:prstDash val="solid"/>
          </a:ln>
        </p:spPr>
      </p:sp>
      <p:sp>
        <p:nvSpPr>
          <p:cNvPr id="16" name="Shape 14"/>
          <p:cNvSpPr/>
          <p:nvPr/>
        </p:nvSpPr>
        <p:spPr>
          <a:xfrm>
            <a:off x="4965192" y="1143000"/>
            <a:ext cx="1371600" cy="338328"/>
          </a:xfrm>
          <a:prstGeom prst="rect">
            <a:avLst/>
          </a:prstGeom>
          <a:solidFill>
            <a:srgbClr val="F1F5F9"/>
          </a:solidFill>
          <a:ln w="6350">
            <a:solidFill>
              <a:srgbClr val="CBD5E1"/>
            </a:solidFill>
            <a:prstDash val="solid"/>
          </a:ln>
        </p:spPr>
      </p:sp>
      <p:sp>
        <p:nvSpPr>
          <p:cNvPr id="17" name="Text 15"/>
          <p:cNvSpPr/>
          <p:nvPr/>
        </p:nvSpPr>
        <p:spPr>
          <a:xfrm>
            <a:off x="219456" y="1143000"/>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Car_Model / Brand</a:t>
            </a:r>
            <a:endParaRPr lang="en-US" sz="1000" dirty="0"/>
          </a:p>
        </p:txBody>
      </p:sp>
      <p:sp>
        <p:nvSpPr>
          <p:cNvPr id="18" name="Shape 16"/>
          <p:cNvSpPr/>
          <p:nvPr/>
        </p:nvSpPr>
        <p:spPr>
          <a:xfrm>
            <a:off x="2249424" y="1207008"/>
            <a:ext cx="1188720" cy="201168"/>
          </a:xfrm>
          <a:prstGeom prst="rect">
            <a:avLst/>
          </a:prstGeom>
          <a:solidFill>
            <a:srgbClr val="0891B2"/>
          </a:solidFill>
          <a:ln w="12700">
            <a:solidFill>
              <a:srgbClr val="0891B2"/>
            </a:solidFill>
            <a:prstDash val="solid"/>
          </a:ln>
        </p:spPr>
      </p:sp>
      <p:sp>
        <p:nvSpPr>
          <p:cNvPr id="19" name="Text 17"/>
          <p:cNvSpPr/>
          <p:nvPr/>
        </p:nvSpPr>
        <p:spPr>
          <a:xfrm>
            <a:off x="2249424" y="120700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Qualitative</a:t>
            </a:r>
            <a:endParaRPr lang="en-US" sz="850" dirty="0"/>
          </a:p>
        </p:txBody>
      </p:sp>
      <p:sp>
        <p:nvSpPr>
          <p:cNvPr id="20" name="Shape 18"/>
          <p:cNvSpPr/>
          <p:nvPr/>
        </p:nvSpPr>
        <p:spPr>
          <a:xfrm>
            <a:off x="3602736" y="1207008"/>
            <a:ext cx="1188720" cy="201168"/>
          </a:xfrm>
          <a:prstGeom prst="rect">
            <a:avLst/>
          </a:prstGeom>
          <a:solidFill>
            <a:srgbClr val="7C3AED"/>
          </a:solidFill>
          <a:ln w="12700">
            <a:solidFill>
              <a:srgbClr val="7C3AED"/>
            </a:solidFill>
            <a:prstDash val="solid"/>
          </a:ln>
        </p:spPr>
      </p:sp>
      <p:sp>
        <p:nvSpPr>
          <p:cNvPr id="21" name="Text 19"/>
          <p:cNvSpPr/>
          <p:nvPr/>
        </p:nvSpPr>
        <p:spPr>
          <a:xfrm>
            <a:off x="3602736" y="120700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Categorical</a:t>
            </a:r>
            <a:endParaRPr lang="en-US" sz="850" dirty="0"/>
          </a:p>
        </p:txBody>
      </p:sp>
      <p:sp>
        <p:nvSpPr>
          <p:cNvPr id="22" name="Shape 20"/>
          <p:cNvSpPr/>
          <p:nvPr/>
        </p:nvSpPr>
        <p:spPr>
          <a:xfrm>
            <a:off x="5020056" y="1207008"/>
            <a:ext cx="1188720" cy="201168"/>
          </a:xfrm>
          <a:prstGeom prst="rect">
            <a:avLst/>
          </a:prstGeom>
          <a:solidFill>
            <a:srgbClr val="64748B"/>
          </a:solidFill>
          <a:ln w="12700">
            <a:solidFill>
              <a:srgbClr val="64748B"/>
            </a:solidFill>
            <a:prstDash val="solid"/>
          </a:ln>
        </p:spPr>
      </p:sp>
      <p:sp>
        <p:nvSpPr>
          <p:cNvPr id="23" name="Text 21"/>
          <p:cNvSpPr/>
          <p:nvPr/>
        </p:nvSpPr>
        <p:spPr>
          <a:xfrm>
            <a:off x="5020056" y="120700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Nominal</a:t>
            </a:r>
            <a:endParaRPr lang="en-US" sz="850" dirty="0"/>
          </a:p>
        </p:txBody>
      </p:sp>
      <p:sp>
        <p:nvSpPr>
          <p:cNvPr id="24" name="Shape 22"/>
          <p:cNvSpPr/>
          <p:nvPr/>
        </p:nvSpPr>
        <p:spPr>
          <a:xfrm>
            <a:off x="164592" y="1481328"/>
            <a:ext cx="2011680" cy="338328"/>
          </a:xfrm>
          <a:prstGeom prst="rect">
            <a:avLst/>
          </a:prstGeom>
          <a:solidFill>
            <a:srgbClr val="FFFFFF"/>
          </a:solidFill>
          <a:ln w="6350">
            <a:solidFill>
              <a:srgbClr val="CBD5E1"/>
            </a:solidFill>
            <a:prstDash val="solid"/>
          </a:ln>
        </p:spPr>
      </p:sp>
      <p:sp>
        <p:nvSpPr>
          <p:cNvPr id="25" name="Shape 23"/>
          <p:cNvSpPr/>
          <p:nvPr/>
        </p:nvSpPr>
        <p:spPr>
          <a:xfrm>
            <a:off x="2176272" y="1481328"/>
            <a:ext cx="1371600" cy="338328"/>
          </a:xfrm>
          <a:prstGeom prst="rect">
            <a:avLst/>
          </a:prstGeom>
          <a:solidFill>
            <a:srgbClr val="FFFFFF"/>
          </a:solidFill>
          <a:ln w="6350">
            <a:solidFill>
              <a:srgbClr val="CBD5E1"/>
            </a:solidFill>
            <a:prstDash val="solid"/>
          </a:ln>
        </p:spPr>
      </p:sp>
      <p:sp>
        <p:nvSpPr>
          <p:cNvPr id="26" name="Shape 24"/>
          <p:cNvSpPr/>
          <p:nvPr/>
        </p:nvSpPr>
        <p:spPr>
          <a:xfrm>
            <a:off x="3547872" y="1481328"/>
            <a:ext cx="1417320" cy="338328"/>
          </a:xfrm>
          <a:prstGeom prst="rect">
            <a:avLst/>
          </a:prstGeom>
          <a:solidFill>
            <a:srgbClr val="FFFFFF"/>
          </a:solidFill>
          <a:ln w="6350">
            <a:solidFill>
              <a:srgbClr val="CBD5E1"/>
            </a:solidFill>
            <a:prstDash val="solid"/>
          </a:ln>
        </p:spPr>
      </p:sp>
      <p:sp>
        <p:nvSpPr>
          <p:cNvPr id="27" name="Shape 25"/>
          <p:cNvSpPr/>
          <p:nvPr/>
        </p:nvSpPr>
        <p:spPr>
          <a:xfrm>
            <a:off x="4965192" y="1481328"/>
            <a:ext cx="1371600" cy="338328"/>
          </a:xfrm>
          <a:prstGeom prst="rect">
            <a:avLst/>
          </a:prstGeom>
          <a:solidFill>
            <a:srgbClr val="FFFFFF"/>
          </a:solidFill>
          <a:ln w="6350">
            <a:solidFill>
              <a:srgbClr val="CBD5E1"/>
            </a:solidFill>
            <a:prstDash val="solid"/>
          </a:ln>
        </p:spPr>
      </p:sp>
      <p:sp>
        <p:nvSpPr>
          <p:cNvPr id="28" name="Text 26"/>
          <p:cNvSpPr/>
          <p:nvPr/>
        </p:nvSpPr>
        <p:spPr>
          <a:xfrm>
            <a:off x="219456" y="1481328"/>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Fuel_Type</a:t>
            </a:r>
            <a:endParaRPr lang="en-US" sz="1000" dirty="0"/>
          </a:p>
        </p:txBody>
      </p:sp>
      <p:sp>
        <p:nvSpPr>
          <p:cNvPr id="29" name="Shape 27"/>
          <p:cNvSpPr/>
          <p:nvPr/>
        </p:nvSpPr>
        <p:spPr>
          <a:xfrm>
            <a:off x="2249424" y="1545336"/>
            <a:ext cx="1188720" cy="201168"/>
          </a:xfrm>
          <a:prstGeom prst="rect">
            <a:avLst/>
          </a:prstGeom>
          <a:solidFill>
            <a:srgbClr val="0891B2"/>
          </a:solidFill>
          <a:ln w="12700">
            <a:solidFill>
              <a:srgbClr val="0891B2"/>
            </a:solidFill>
            <a:prstDash val="solid"/>
          </a:ln>
        </p:spPr>
      </p:sp>
      <p:sp>
        <p:nvSpPr>
          <p:cNvPr id="30" name="Text 28"/>
          <p:cNvSpPr/>
          <p:nvPr/>
        </p:nvSpPr>
        <p:spPr>
          <a:xfrm>
            <a:off x="2249424" y="154533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Qualitative</a:t>
            </a:r>
            <a:endParaRPr lang="en-US" sz="850" dirty="0"/>
          </a:p>
        </p:txBody>
      </p:sp>
      <p:sp>
        <p:nvSpPr>
          <p:cNvPr id="31" name="Shape 29"/>
          <p:cNvSpPr/>
          <p:nvPr/>
        </p:nvSpPr>
        <p:spPr>
          <a:xfrm>
            <a:off x="3602736" y="1545336"/>
            <a:ext cx="1188720" cy="201168"/>
          </a:xfrm>
          <a:prstGeom prst="rect">
            <a:avLst/>
          </a:prstGeom>
          <a:solidFill>
            <a:srgbClr val="7C3AED"/>
          </a:solidFill>
          <a:ln w="12700">
            <a:solidFill>
              <a:srgbClr val="7C3AED"/>
            </a:solidFill>
            <a:prstDash val="solid"/>
          </a:ln>
        </p:spPr>
      </p:sp>
      <p:sp>
        <p:nvSpPr>
          <p:cNvPr id="32" name="Text 30"/>
          <p:cNvSpPr/>
          <p:nvPr/>
        </p:nvSpPr>
        <p:spPr>
          <a:xfrm>
            <a:off x="3602736" y="154533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Categorical</a:t>
            </a:r>
            <a:endParaRPr lang="en-US" sz="850" dirty="0"/>
          </a:p>
        </p:txBody>
      </p:sp>
      <p:sp>
        <p:nvSpPr>
          <p:cNvPr id="33" name="Shape 31"/>
          <p:cNvSpPr/>
          <p:nvPr/>
        </p:nvSpPr>
        <p:spPr>
          <a:xfrm>
            <a:off x="5020056" y="1545336"/>
            <a:ext cx="1188720" cy="201168"/>
          </a:xfrm>
          <a:prstGeom prst="rect">
            <a:avLst/>
          </a:prstGeom>
          <a:solidFill>
            <a:srgbClr val="64748B"/>
          </a:solidFill>
          <a:ln w="12700">
            <a:solidFill>
              <a:srgbClr val="64748B"/>
            </a:solidFill>
            <a:prstDash val="solid"/>
          </a:ln>
        </p:spPr>
      </p:sp>
      <p:sp>
        <p:nvSpPr>
          <p:cNvPr id="34" name="Text 32"/>
          <p:cNvSpPr/>
          <p:nvPr/>
        </p:nvSpPr>
        <p:spPr>
          <a:xfrm>
            <a:off x="5020056" y="154533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Nominal</a:t>
            </a:r>
            <a:endParaRPr lang="en-US" sz="850" dirty="0"/>
          </a:p>
        </p:txBody>
      </p:sp>
      <p:sp>
        <p:nvSpPr>
          <p:cNvPr id="35" name="Shape 33"/>
          <p:cNvSpPr/>
          <p:nvPr/>
        </p:nvSpPr>
        <p:spPr>
          <a:xfrm>
            <a:off x="164592" y="1819656"/>
            <a:ext cx="2011680" cy="338328"/>
          </a:xfrm>
          <a:prstGeom prst="rect">
            <a:avLst/>
          </a:prstGeom>
          <a:solidFill>
            <a:srgbClr val="F1F5F9"/>
          </a:solidFill>
          <a:ln w="6350">
            <a:solidFill>
              <a:srgbClr val="CBD5E1"/>
            </a:solidFill>
            <a:prstDash val="solid"/>
          </a:ln>
        </p:spPr>
      </p:sp>
      <p:sp>
        <p:nvSpPr>
          <p:cNvPr id="36" name="Shape 34"/>
          <p:cNvSpPr/>
          <p:nvPr/>
        </p:nvSpPr>
        <p:spPr>
          <a:xfrm>
            <a:off x="2176272" y="1819656"/>
            <a:ext cx="1371600" cy="338328"/>
          </a:xfrm>
          <a:prstGeom prst="rect">
            <a:avLst/>
          </a:prstGeom>
          <a:solidFill>
            <a:srgbClr val="F1F5F9"/>
          </a:solidFill>
          <a:ln w="6350">
            <a:solidFill>
              <a:srgbClr val="CBD5E1"/>
            </a:solidFill>
            <a:prstDash val="solid"/>
          </a:ln>
        </p:spPr>
      </p:sp>
      <p:sp>
        <p:nvSpPr>
          <p:cNvPr id="37" name="Shape 35"/>
          <p:cNvSpPr/>
          <p:nvPr/>
        </p:nvSpPr>
        <p:spPr>
          <a:xfrm>
            <a:off x="3547872" y="1819656"/>
            <a:ext cx="1417320" cy="338328"/>
          </a:xfrm>
          <a:prstGeom prst="rect">
            <a:avLst/>
          </a:prstGeom>
          <a:solidFill>
            <a:srgbClr val="F1F5F9"/>
          </a:solidFill>
          <a:ln w="6350">
            <a:solidFill>
              <a:srgbClr val="CBD5E1"/>
            </a:solidFill>
            <a:prstDash val="solid"/>
          </a:ln>
        </p:spPr>
      </p:sp>
      <p:sp>
        <p:nvSpPr>
          <p:cNvPr id="38" name="Shape 36"/>
          <p:cNvSpPr/>
          <p:nvPr/>
        </p:nvSpPr>
        <p:spPr>
          <a:xfrm>
            <a:off x="4965192" y="1819656"/>
            <a:ext cx="1371600" cy="338328"/>
          </a:xfrm>
          <a:prstGeom prst="rect">
            <a:avLst/>
          </a:prstGeom>
          <a:solidFill>
            <a:srgbClr val="F1F5F9"/>
          </a:solidFill>
          <a:ln w="6350">
            <a:solidFill>
              <a:srgbClr val="CBD5E1"/>
            </a:solidFill>
            <a:prstDash val="solid"/>
          </a:ln>
        </p:spPr>
      </p:sp>
      <p:sp>
        <p:nvSpPr>
          <p:cNvPr id="39" name="Text 37"/>
          <p:cNvSpPr/>
          <p:nvPr/>
        </p:nvSpPr>
        <p:spPr>
          <a:xfrm>
            <a:off x="219456" y="1819656"/>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Transmission</a:t>
            </a:r>
            <a:endParaRPr lang="en-US" sz="1000" dirty="0"/>
          </a:p>
        </p:txBody>
      </p:sp>
      <p:sp>
        <p:nvSpPr>
          <p:cNvPr id="40" name="Shape 38"/>
          <p:cNvSpPr/>
          <p:nvPr/>
        </p:nvSpPr>
        <p:spPr>
          <a:xfrm>
            <a:off x="2249424" y="1883664"/>
            <a:ext cx="1188720" cy="201168"/>
          </a:xfrm>
          <a:prstGeom prst="rect">
            <a:avLst/>
          </a:prstGeom>
          <a:solidFill>
            <a:srgbClr val="0891B2"/>
          </a:solidFill>
          <a:ln w="12700">
            <a:solidFill>
              <a:srgbClr val="0891B2"/>
            </a:solidFill>
            <a:prstDash val="solid"/>
          </a:ln>
        </p:spPr>
      </p:sp>
      <p:sp>
        <p:nvSpPr>
          <p:cNvPr id="41" name="Text 39"/>
          <p:cNvSpPr/>
          <p:nvPr/>
        </p:nvSpPr>
        <p:spPr>
          <a:xfrm>
            <a:off x="2249424" y="188366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Qualitative</a:t>
            </a:r>
            <a:endParaRPr lang="en-US" sz="850" dirty="0"/>
          </a:p>
        </p:txBody>
      </p:sp>
      <p:sp>
        <p:nvSpPr>
          <p:cNvPr id="42" name="Shape 40"/>
          <p:cNvSpPr/>
          <p:nvPr/>
        </p:nvSpPr>
        <p:spPr>
          <a:xfrm>
            <a:off x="3602736" y="1883664"/>
            <a:ext cx="1188720" cy="201168"/>
          </a:xfrm>
          <a:prstGeom prst="rect">
            <a:avLst/>
          </a:prstGeom>
          <a:solidFill>
            <a:srgbClr val="7C3AED"/>
          </a:solidFill>
          <a:ln w="12700">
            <a:solidFill>
              <a:srgbClr val="7C3AED"/>
            </a:solidFill>
            <a:prstDash val="solid"/>
          </a:ln>
        </p:spPr>
      </p:sp>
      <p:sp>
        <p:nvSpPr>
          <p:cNvPr id="43" name="Text 41"/>
          <p:cNvSpPr/>
          <p:nvPr/>
        </p:nvSpPr>
        <p:spPr>
          <a:xfrm>
            <a:off x="3602736" y="188366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Categorical</a:t>
            </a:r>
            <a:endParaRPr lang="en-US" sz="850" dirty="0"/>
          </a:p>
        </p:txBody>
      </p:sp>
      <p:sp>
        <p:nvSpPr>
          <p:cNvPr id="44" name="Shape 42"/>
          <p:cNvSpPr/>
          <p:nvPr/>
        </p:nvSpPr>
        <p:spPr>
          <a:xfrm>
            <a:off x="5020056" y="1883664"/>
            <a:ext cx="1188720" cy="201168"/>
          </a:xfrm>
          <a:prstGeom prst="rect">
            <a:avLst/>
          </a:prstGeom>
          <a:solidFill>
            <a:srgbClr val="64748B"/>
          </a:solidFill>
          <a:ln w="12700">
            <a:solidFill>
              <a:srgbClr val="64748B"/>
            </a:solidFill>
            <a:prstDash val="solid"/>
          </a:ln>
        </p:spPr>
      </p:sp>
      <p:sp>
        <p:nvSpPr>
          <p:cNvPr id="45" name="Text 43"/>
          <p:cNvSpPr/>
          <p:nvPr/>
        </p:nvSpPr>
        <p:spPr>
          <a:xfrm>
            <a:off x="5020056" y="188366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Nominal</a:t>
            </a:r>
            <a:endParaRPr lang="en-US" sz="850" dirty="0"/>
          </a:p>
        </p:txBody>
      </p:sp>
      <p:sp>
        <p:nvSpPr>
          <p:cNvPr id="46" name="Shape 44"/>
          <p:cNvSpPr/>
          <p:nvPr/>
        </p:nvSpPr>
        <p:spPr>
          <a:xfrm>
            <a:off x="164592" y="2157984"/>
            <a:ext cx="2011680" cy="338328"/>
          </a:xfrm>
          <a:prstGeom prst="rect">
            <a:avLst/>
          </a:prstGeom>
          <a:solidFill>
            <a:srgbClr val="FFFFFF"/>
          </a:solidFill>
          <a:ln w="6350">
            <a:solidFill>
              <a:srgbClr val="CBD5E1"/>
            </a:solidFill>
            <a:prstDash val="solid"/>
          </a:ln>
        </p:spPr>
      </p:sp>
      <p:sp>
        <p:nvSpPr>
          <p:cNvPr id="47" name="Shape 45"/>
          <p:cNvSpPr/>
          <p:nvPr/>
        </p:nvSpPr>
        <p:spPr>
          <a:xfrm>
            <a:off x="2176272" y="2157984"/>
            <a:ext cx="1371600" cy="338328"/>
          </a:xfrm>
          <a:prstGeom prst="rect">
            <a:avLst/>
          </a:prstGeom>
          <a:solidFill>
            <a:srgbClr val="FFFFFF"/>
          </a:solidFill>
          <a:ln w="6350">
            <a:solidFill>
              <a:srgbClr val="CBD5E1"/>
            </a:solidFill>
            <a:prstDash val="solid"/>
          </a:ln>
        </p:spPr>
      </p:sp>
      <p:sp>
        <p:nvSpPr>
          <p:cNvPr id="48" name="Shape 46"/>
          <p:cNvSpPr/>
          <p:nvPr/>
        </p:nvSpPr>
        <p:spPr>
          <a:xfrm>
            <a:off x="3547872" y="2157984"/>
            <a:ext cx="1417320" cy="338328"/>
          </a:xfrm>
          <a:prstGeom prst="rect">
            <a:avLst/>
          </a:prstGeom>
          <a:solidFill>
            <a:srgbClr val="FFFFFF"/>
          </a:solidFill>
          <a:ln w="6350">
            <a:solidFill>
              <a:srgbClr val="CBD5E1"/>
            </a:solidFill>
            <a:prstDash val="solid"/>
          </a:ln>
        </p:spPr>
      </p:sp>
      <p:sp>
        <p:nvSpPr>
          <p:cNvPr id="49" name="Shape 47"/>
          <p:cNvSpPr/>
          <p:nvPr/>
        </p:nvSpPr>
        <p:spPr>
          <a:xfrm>
            <a:off x="4965192" y="2157984"/>
            <a:ext cx="1371600" cy="338328"/>
          </a:xfrm>
          <a:prstGeom prst="rect">
            <a:avLst/>
          </a:prstGeom>
          <a:solidFill>
            <a:srgbClr val="FFFFFF"/>
          </a:solidFill>
          <a:ln w="6350">
            <a:solidFill>
              <a:srgbClr val="CBD5E1"/>
            </a:solidFill>
            <a:prstDash val="solid"/>
          </a:ln>
        </p:spPr>
      </p:sp>
      <p:sp>
        <p:nvSpPr>
          <p:cNvPr id="50" name="Text 48"/>
          <p:cNvSpPr/>
          <p:nvPr/>
        </p:nvSpPr>
        <p:spPr>
          <a:xfrm>
            <a:off x="219456" y="2157984"/>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Segment</a:t>
            </a:r>
            <a:endParaRPr lang="en-US" sz="1000" dirty="0"/>
          </a:p>
        </p:txBody>
      </p:sp>
      <p:sp>
        <p:nvSpPr>
          <p:cNvPr id="51" name="Shape 49"/>
          <p:cNvSpPr/>
          <p:nvPr/>
        </p:nvSpPr>
        <p:spPr>
          <a:xfrm>
            <a:off x="2249424" y="2221992"/>
            <a:ext cx="1188720" cy="201168"/>
          </a:xfrm>
          <a:prstGeom prst="rect">
            <a:avLst/>
          </a:prstGeom>
          <a:solidFill>
            <a:srgbClr val="0891B2"/>
          </a:solidFill>
          <a:ln w="12700">
            <a:solidFill>
              <a:srgbClr val="0891B2"/>
            </a:solidFill>
            <a:prstDash val="solid"/>
          </a:ln>
        </p:spPr>
      </p:sp>
      <p:sp>
        <p:nvSpPr>
          <p:cNvPr id="52" name="Text 50"/>
          <p:cNvSpPr/>
          <p:nvPr/>
        </p:nvSpPr>
        <p:spPr>
          <a:xfrm>
            <a:off x="2249424" y="222199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Qualitative</a:t>
            </a:r>
            <a:endParaRPr lang="en-US" sz="850" dirty="0"/>
          </a:p>
        </p:txBody>
      </p:sp>
      <p:sp>
        <p:nvSpPr>
          <p:cNvPr id="53" name="Shape 51"/>
          <p:cNvSpPr/>
          <p:nvPr/>
        </p:nvSpPr>
        <p:spPr>
          <a:xfrm>
            <a:off x="3602736" y="2221992"/>
            <a:ext cx="1188720" cy="201168"/>
          </a:xfrm>
          <a:prstGeom prst="rect">
            <a:avLst/>
          </a:prstGeom>
          <a:solidFill>
            <a:srgbClr val="7C3AED"/>
          </a:solidFill>
          <a:ln w="12700">
            <a:solidFill>
              <a:srgbClr val="7C3AED"/>
            </a:solidFill>
            <a:prstDash val="solid"/>
          </a:ln>
        </p:spPr>
      </p:sp>
      <p:sp>
        <p:nvSpPr>
          <p:cNvPr id="54" name="Text 52"/>
          <p:cNvSpPr/>
          <p:nvPr/>
        </p:nvSpPr>
        <p:spPr>
          <a:xfrm>
            <a:off x="3602736" y="222199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Categorical</a:t>
            </a:r>
            <a:endParaRPr lang="en-US" sz="850" dirty="0"/>
          </a:p>
        </p:txBody>
      </p:sp>
      <p:sp>
        <p:nvSpPr>
          <p:cNvPr id="55" name="Shape 53"/>
          <p:cNvSpPr/>
          <p:nvPr/>
        </p:nvSpPr>
        <p:spPr>
          <a:xfrm>
            <a:off x="5020056" y="2221992"/>
            <a:ext cx="1188720" cy="201168"/>
          </a:xfrm>
          <a:prstGeom prst="rect">
            <a:avLst/>
          </a:prstGeom>
          <a:solidFill>
            <a:srgbClr val="6D28D9"/>
          </a:solidFill>
          <a:ln w="12700">
            <a:solidFill>
              <a:srgbClr val="6D28D9"/>
            </a:solidFill>
            <a:prstDash val="solid"/>
          </a:ln>
        </p:spPr>
      </p:sp>
      <p:sp>
        <p:nvSpPr>
          <p:cNvPr id="56" name="Text 54"/>
          <p:cNvSpPr/>
          <p:nvPr/>
        </p:nvSpPr>
        <p:spPr>
          <a:xfrm>
            <a:off x="5020056" y="222199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Ordinal</a:t>
            </a:r>
            <a:endParaRPr lang="en-US" sz="850" dirty="0"/>
          </a:p>
        </p:txBody>
      </p:sp>
      <p:sp>
        <p:nvSpPr>
          <p:cNvPr id="57" name="Shape 55"/>
          <p:cNvSpPr/>
          <p:nvPr/>
        </p:nvSpPr>
        <p:spPr>
          <a:xfrm>
            <a:off x="164592" y="2496312"/>
            <a:ext cx="2011680" cy="338328"/>
          </a:xfrm>
          <a:prstGeom prst="rect">
            <a:avLst/>
          </a:prstGeom>
          <a:solidFill>
            <a:srgbClr val="F1F5F9"/>
          </a:solidFill>
          <a:ln w="6350">
            <a:solidFill>
              <a:srgbClr val="CBD5E1"/>
            </a:solidFill>
            <a:prstDash val="solid"/>
          </a:ln>
        </p:spPr>
      </p:sp>
      <p:sp>
        <p:nvSpPr>
          <p:cNvPr id="58" name="Shape 56"/>
          <p:cNvSpPr/>
          <p:nvPr/>
        </p:nvSpPr>
        <p:spPr>
          <a:xfrm>
            <a:off x="2176272" y="2496312"/>
            <a:ext cx="1371600" cy="338328"/>
          </a:xfrm>
          <a:prstGeom prst="rect">
            <a:avLst/>
          </a:prstGeom>
          <a:solidFill>
            <a:srgbClr val="F1F5F9"/>
          </a:solidFill>
          <a:ln w="6350">
            <a:solidFill>
              <a:srgbClr val="CBD5E1"/>
            </a:solidFill>
            <a:prstDash val="solid"/>
          </a:ln>
        </p:spPr>
      </p:sp>
      <p:sp>
        <p:nvSpPr>
          <p:cNvPr id="59" name="Shape 57"/>
          <p:cNvSpPr/>
          <p:nvPr/>
        </p:nvSpPr>
        <p:spPr>
          <a:xfrm>
            <a:off x="3547872" y="2496312"/>
            <a:ext cx="1417320" cy="338328"/>
          </a:xfrm>
          <a:prstGeom prst="rect">
            <a:avLst/>
          </a:prstGeom>
          <a:solidFill>
            <a:srgbClr val="F1F5F9"/>
          </a:solidFill>
          <a:ln w="6350">
            <a:solidFill>
              <a:srgbClr val="CBD5E1"/>
            </a:solidFill>
            <a:prstDash val="solid"/>
          </a:ln>
        </p:spPr>
      </p:sp>
      <p:sp>
        <p:nvSpPr>
          <p:cNvPr id="60" name="Shape 58"/>
          <p:cNvSpPr/>
          <p:nvPr/>
        </p:nvSpPr>
        <p:spPr>
          <a:xfrm>
            <a:off x="4965192" y="2496312"/>
            <a:ext cx="1371600" cy="338328"/>
          </a:xfrm>
          <a:prstGeom prst="rect">
            <a:avLst/>
          </a:prstGeom>
          <a:solidFill>
            <a:srgbClr val="F1F5F9"/>
          </a:solidFill>
          <a:ln w="6350">
            <a:solidFill>
              <a:srgbClr val="CBD5E1"/>
            </a:solidFill>
            <a:prstDash val="solid"/>
          </a:ln>
        </p:spPr>
      </p:sp>
      <p:sp>
        <p:nvSpPr>
          <p:cNvPr id="61" name="Text 59"/>
          <p:cNvSpPr/>
          <p:nvPr/>
        </p:nvSpPr>
        <p:spPr>
          <a:xfrm>
            <a:off x="219456" y="2496312"/>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Safety_Rating_Stars</a:t>
            </a:r>
            <a:endParaRPr lang="en-US" sz="1000" dirty="0"/>
          </a:p>
        </p:txBody>
      </p:sp>
      <p:sp>
        <p:nvSpPr>
          <p:cNvPr id="62" name="Shape 60"/>
          <p:cNvSpPr/>
          <p:nvPr/>
        </p:nvSpPr>
        <p:spPr>
          <a:xfrm>
            <a:off x="2249424" y="2560320"/>
            <a:ext cx="1188720" cy="201168"/>
          </a:xfrm>
          <a:prstGeom prst="rect">
            <a:avLst/>
          </a:prstGeom>
          <a:solidFill>
            <a:srgbClr val="0A1931"/>
          </a:solidFill>
          <a:ln w="12700">
            <a:solidFill>
              <a:srgbClr val="0A1931"/>
            </a:solidFill>
            <a:prstDash val="solid"/>
          </a:ln>
        </p:spPr>
      </p:sp>
      <p:sp>
        <p:nvSpPr>
          <p:cNvPr id="63" name="Text 61"/>
          <p:cNvSpPr/>
          <p:nvPr/>
        </p:nvSpPr>
        <p:spPr>
          <a:xfrm>
            <a:off x="2249424" y="256032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64" name="Shape 62"/>
          <p:cNvSpPr/>
          <p:nvPr/>
        </p:nvSpPr>
        <p:spPr>
          <a:xfrm>
            <a:off x="3602736" y="2560320"/>
            <a:ext cx="1188720" cy="201168"/>
          </a:xfrm>
          <a:prstGeom prst="rect">
            <a:avLst/>
          </a:prstGeom>
          <a:solidFill>
            <a:srgbClr val="059669"/>
          </a:solidFill>
          <a:ln w="12700">
            <a:solidFill>
              <a:srgbClr val="059669"/>
            </a:solidFill>
            <a:prstDash val="solid"/>
          </a:ln>
        </p:spPr>
      </p:sp>
      <p:sp>
        <p:nvSpPr>
          <p:cNvPr id="65" name="Text 63"/>
          <p:cNvSpPr/>
          <p:nvPr/>
        </p:nvSpPr>
        <p:spPr>
          <a:xfrm>
            <a:off x="3602736" y="256032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Discrete</a:t>
            </a:r>
            <a:endParaRPr lang="en-US" sz="850" dirty="0"/>
          </a:p>
        </p:txBody>
      </p:sp>
      <p:sp>
        <p:nvSpPr>
          <p:cNvPr id="66" name="Shape 64"/>
          <p:cNvSpPr/>
          <p:nvPr/>
        </p:nvSpPr>
        <p:spPr>
          <a:xfrm>
            <a:off x="5020056" y="2560320"/>
            <a:ext cx="1188720" cy="201168"/>
          </a:xfrm>
          <a:prstGeom prst="rect">
            <a:avLst/>
          </a:prstGeom>
          <a:solidFill>
            <a:srgbClr val="065A82"/>
          </a:solidFill>
          <a:ln w="12700">
            <a:solidFill>
              <a:srgbClr val="065A82"/>
            </a:solidFill>
            <a:prstDash val="solid"/>
          </a:ln>
        </p:spPr>
      </p:sp>
      <p:sp>
        <p:nvSpPr>
          <p:cNvPr id="67" name="Text 65"/>
          <p:cNvSpPr/>
          <p:nvPr/>
        </p:nvSpPr>
        <p:spPr>
          <a:xfrm>
            <a:off x="5020056" y="256032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68" name="Shape 66"/>
          <p:cNvSpPr/>
          <p:nvPr/>
        </p:nvSpPr>
        <p:spPr>
          <a:xfrm>
            <a:off x="164592" y="2834640"/>
            <a:ext cx="2011680" cy="338328"/>
          </a:xfrm>
          <a:prstGeom prst="rect">
            <a:avLst/>
          </a:prstGeom>
          <a:solidFill>
            <a:srgbClr val="FFFFFF"/>
          </a:solidFill>
          <a:ln w="6350">
            <a:solidFill>
              <a:srgbClr val="CBD5E1"/>
            </a:solidFill>
            <a:prstDash val="solid"/>
          </a:ln>
        </p:spPr>
      </p:sp>
      <p:sp>
        <p:nvSpPr>
          <p:cNvPr id="69" name="Shape 67"/>
          <p:cNvSpPr/>
          <p:nvPr/>
        </p:nvSpPr>
        <p:spPr>
          <a:xfrm>
            <a:off x="2176272" y="2834640"/>
            <a:ext cx="1371600" cy="338328"/>
          </a:xfrm>
          <a:prstGeom prst="rect">
            <a:avLst/>
          </a:prstGeom>
          <a:solidFill>
            <a:srgbClr val="FFFFFF"/>
          </a:solidFill>
          <a:ln w="6350">
            <a:solidFill>
              <a:srgbClr val="CBD5E1"/>
            </a:solidFill>
            <a:prstDash val="solid"/>
          </a:ln>
        </p:spPr>
      </p:sp>
      <p:sp>
        <p:nvSpPr>
          <p:cNvPr id="70" name="Shape 68"/>
          <p:cNvSpPr/>
          <p:nvPr/>
        </p:nvSpPr>
        <p:spPr>
          <a:xfrm>
            <a:off x="3547872" y="2834640"/>
            <a:ext cx="1417320" cy="338328"/>
          </a:xfrm>
          <a:prstGeom prst="rect">
            <a:avLst/>
          </a:prstGeom>
          <a:solidFill>
            <a:srgbClr val="FFFFFF"/>
          </a:solidFill>
          <a:ln w="6350">
            <a:solidFill>
              <a:srgbClr val="CBD5E1"/>
            </a:solidFill>
            <a:prstDash val="solid"/>
          </a:ln>
        </p:spPr>
      </p:sp>
      <p:sp>
        <p:nvSpPr>
          <p:cNvPr id="71" name="Shape 69"/>
          <p:cNvSpPr/>
          <p:nvPr/>
        </p:nvSpPr>
        <p:spPr>
          <a:xfrm>
            <a:off x="4965192" y="2834640"/>
            <a:ext cx="1371600" cy="338328"/>
          </a:xfrm>
          <a:prstGeom prst="rect">
            <a:avLst/>
          </a:prstGeom>
          <a:solidFill>
            <a:srgbClr val="FFFFFF"/>
          </a:solidFill>
          <a:ln w="6350">
            <a:solidFill>
              <a:srgbClr val="CBD5E1"/>
            </a:solidFill>
            <a:prstDash val="solid"/>
          </a:ln>
        </p:spPr>
      </p:sp>
      <p:sp>
        <p:nvSpPr>
          <p:cNvPr id="72" name="Text 70"/>
          <p:cNvSpPr/>
          <p:nvPr/>
        </p:nvSpPr>
        <p:spPr>
          <a:xfrm>
            <a:off x="219456" y="2834640"/>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Seating_Capacity</a:t>
            </a:r>
            <a:endParaRPr lang="en-US" sz="1000" dirty="0"/>
          </a:p>
        </p:txBody>
      </p:sp>
      <p:sp>
        <p:nvSpPr>
          <p:cNvPr id="73" name="Shape 71"/>
          <p:cNvSpPr/>
          <p:nvPr/>
        </p:nvSpPr>
        <p:spPr>
          <a:xfrm>
            <a:off x="2249424" y="2898648"/>
            <a:ext cx="1188720" cy="201168"/>
          </a:xfrm>
          <a:prstGeom prst="rect">
            <a:avLst/>
          </a:prstGeom>
          <a:solidFill>
            <a:srgbClr val="0A1931"/>
          </a:solidFill>
          <a:ln w="12700">
            <a:solidFill>
              <a:srgbClr val="0A1931"/>
            </a:solidFill>
            <a:prstDash val="solid"/>
          </a:ln>
        </p:spPr>
      </p:sp>
      <p:sp>
        <p:nvSpPr>
          <p:cNvPr id="74" name="Text 72"/>
          <p:cNvSpPr/>
          <p:nvPr/>
        </p:nvSpPr>
        <p:spPr>
          <a:xfrm>
            <a:off x="2249424" y="289864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75" name="Shape 73"/>
          <p:cNvSpPr/>
          <p:nvPr/>
        </p:nvSpPr>
        <p:spPr>
          <a:xfrm>
            <a:off x="3602736" y="2898648"/>
            <a:ext cx="1188720" cy="201168"/>
          </a:xfrm>
          <a:prstGeom prst="rect">
            <a:avLst/>
          </a:prstGeom>
          <a:solidFill>
            <a:srgbClr val="059669"/>
          </a:solidFill>
          <a:ln w="12700">
            <a:solidFill>
              <a:srgbClr val="059669"/>
            </a:solidFill>
            <a:prstDash val="solid"/>
          </a:ln>
        </p:spPr>
      </p:sp>
      <p:sp>
        <p:nvSpPr>
          <p:cNvPr id="76" name="Text 74"/>
          <p:cNvSpPr/>
          <p:nvPr/>
        </p:nvSpPr>
        <p:spPr>
          <a:xfrm>
            <a:off x="3602736" y="289864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Discrete</a:t>
            </a:r>
            <a:endParaRPr lang="en-US" sz="850" dirty="0"/>
          </a:p>
        </p:txBody>
      </p:sp>
      <p:sp>
        <p:nvSpPr>
          <p:cNvPr id="77" name="Shape 75"/>
          <p:cNvSpPr/>
          <p:nvPr/>
        </p:nvSpPr>
        <p:spPr>
          <a:xfrm>
            <a:off x="5020056" y="2898648"/>
            <a:ext cx="1188720" cy="201168"/>
          </a:xfrm>
          <a:prstGeom prst="rect">
            <a:avLst/>
          </a:prstGeom>
          <a:solidFill>
            <a:srgbClr val="065A82"/>
          </a:solidFill>
          <a:ln w="12700">
            <a:solidFill>
              <a:srgbClr val="065A82"/>
            </a:solidFill>
            <a:prstDash val="solid"/>
          </a:ln>
        </p:spPr>
      </p:sp>
      <p:sp>
        <p:nvSpPr>
          <p:cNvPr id="78" name="Text 76"/>
          <p:cNvSpPr/>
          <p:nvPr/>
        </p:nvSpPr>
        <p:spPr>
          <a:xfrm>
            <a:off x="5020056" y="289864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79" name="Shape 77"/>
          <p:cNvSpPr/>
          <p:nvPr/>
        </p:nvSpPr>
        <p:spPr>
          <a:xfrm>
            <a:off x="164592" y="3172968"/>
            <a:ext cx="2011680" cy="338328"/>
          </a:xfrm>
          <a:prstGeom prst="rect">
            <a:avLst/>
          </a:prstGeom>
          <a:solidFill>
            <a:srgbClr val="F1F5F9"/>
          </a:solidFill>
          <a:ln w="6350">
            <a:solidFill>
              <a:srgbClr val="CBD5E1"/>
            </a:solidFill>
            <a:prstDash val="solid"/>
          </a:ln>
        </p:spPr>
      </p:sp>
      <p:sp>
        <p:nvSpPr>
          <p:cNvPr id="80" name="Shape 78"/>
          <p:cNvSpPr/>
          <p:nvPr/>
        </p:nvSpPr>
        <p:spPr>
          <a:xfrm>
            <a:off x="2176272" y="3172968"/>
            <a:ext cx="1371600" cy="338328"/>
          </a:xfrm>
          <a:prstGeom prst="rect">
            <a:avLst/>
          </a:prstGeom>
          <a:solidFill>
            <a:srgbClr val="F1F5F9"/>
          </a:solidFill>
          <a:ln w="6350">
            <a:solidFill>
              <a:srgbClr val="CBD5E1"/>
            </a:solidFill>
            <a:prstDash val="solid"/>
          </a:ln>
        </p:spPr>
      </p:sp>
      <p:sp>
        <p:nvSpPr>
          <p:cNvPr id="81" name="Shape 79"/>
          <p:cNvSpPr/>
          <p:nvPr/>
        </p:nvSpPr>
        <p:spPr>
          <a:xfrm>
            <a:off x="3547872" y="3172968"/>
            <a:ext cx="1417320" cy="338328"/>
          </a:xfrm>
          <a:prstGeom prst="rect">
            <a:avLst/>
          </a:prstGeom>
          <a:solidFill>
            <a:srgbClr val="F1F5F9"/>
          </a:solidFill>
          <a:ln w="6350">
            <a:solidFill>
              <a:srgbClr val="CBD5E1"/>
            </a:solidFill>
            <a:prstDash val="solid"/>
          </a:ln>
        </p:spPr>
      </p:sp>
      <p:sp>
        <p:nvSpPr>
          <p:cNvPr id="82" name="Shape 80"/>
          <p:cNvSpPr/>
          <p:nvPr/>
        </p:nvSpPr>
        <p:spPr>
          <a:xfrm>
            <a:off x="4965192" y="3172968"/>
            <a:ext cx="1371600" cy="338328"/>
          </a:xfrm>
          <a:prstGeom prst="rect">
            <a:avLst/>
          </a:prstGeom>
          <a:solidFill>
            <a:srgbClr val="F1F5F9"/>
          </a:solidFill>
          <a:ln w="6350">
            <a:solidFill>
              <a:srgbClr val="CBD5E1"/>
            </a:solidFill>
            <a:prstDash val="solid"/>
          </a:ln>
        </p:spPr>
      </p:sp>
      <p:sp>
        <p:nvSpPr>
          <p:cNvPr id="83" name="Text 81"/>
          <p:cNvSpPr/>
          <p:nvPr/>
        </p:nvSpPr>
        <p:spPr>
          <a:xfrm>
            <a:off x="219456" y="3172968"/>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Units_Sold</a:t>
            </a:r>
            <a:endParaRPr lang="en-US" sz="1000" dirty="0"/>
          </a:p>
        </p:txBody>
      </p:sp>
      <p:sp>
        <p:nvSpPr>
          <p:cNvPr id="84" name="Shape 82"/>
          <p:cNvSpPr/>
          <p:nvPr/>
        </p:nvSpPr>
        <p:spPr>
          <a:xfrm>
            <a:off x="2249424" y="3236976"/>
            <a:ext cx="1188720" cy="201168"/>
          </a:xfrm>
          <a:prstGeom prst="rect">
            <a:avLst/>
          </a:prstGeom>
          <a:solidFill>
            <a:srgbClr val="0A1931"/>
          </a:solidFill>
          <a:ln w="12700">
            <a:solidFill>
              <a:srgbClr val="0A1931"/>
            </a:solidFill>
            <a:prstDash val="solid"/>
          </a:ln>
        </p:spPr>
      </p:sp>
      <p:sp>
        <p:nvSpPr>
          <p:cNvPr id="85" name="Text 83"/>
          <p:cNvSpPr/>
          <p:nvPr/>
        </p:nvSpPr>
        <p:spPr>
          <a:xfrm>
            <a:off x="2249424" y="323697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86" name="Shape 84"/>
          <p:cNvSpPr/>
          <p:nvPr/>
        </p:nvSpPr>
        <p:spPr>
          <a:xfrm>
            <a:off x="3602736" y="3236976"/>
            <a:ext cx="1188720" cy="201168"/>
          </a:xfrm>
          <a:prstGeom prst="rect">
            <a:avLst/>
          </a:prstGeom>
          <a:solidFill>
            <a:srgbClr val="059669"/>
          </a:solidFill>
          <a:ln w="12700">
            <a:solidFill>
              <a:srgbClr val="059669"/>
            </a:solidFill>
            <a:prstDash val="solid"/>
          </a:ln>
        </p:spPr>
      </p:sp>
      <p:sp>
        <p:nvSpPr>
          <p:cNvPr id="87" name="Text 85"/>
          <p:cNvSpPr/>
          <p:nvPr/>
        </p:nvSpPr>
        <p:spPr>
          <a:xfrm>
            <a:off x="3602736" y="323697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Discrete</a:t>
            </a:r>
            <a:endParaRPr lang="en-US" sz="850" dirty="0"/>
          </a:p>
        </p:txBody>
      </p:sp>
      <p:sp>
        <p:nvSpPr>
          <p:cNvPr id="88" name="Shape 86"/>
          <p:cNvSpPr/>
          <p:nvPr/>
        </p:nvSpPr>
        <p:spPr>
          <a:xfrm>
            <a:off x="5020056" y="3236976"/>
            <a:ext cx="1188720" cy="201168"/>
          </a:xfrm>
          <a:prstGeom prst="rect">
            <a:avLst/>
          </a:prstGeom>
          <a:solidFill>
            <a:srgbClr val="065A82"/>
          </a:solidFill>
          <a:ln w="12700">
            <a:solidFill>
              <a:srgbClr val="065A82"/>
            </a:solidFill>
            <a:prstDash val="solid"/>
          </a:ln>
        </p:spPr>
      </p:sp>
      <p:sp>
        <p:nvSpPr>
          <p:cNvPr id="89" name="Text 87"/>
          <p:cNvSpPr/>
          <p:nvPr/>
        </p:nvSpPr>
        <p:spPr>
          <a:xfrm>
            <a:off x="5020056" y="323697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90" name="Shape 88"/>
          <p:cNvSpPr/>
          <p:nvPr/>
        </p:nvSpPr>
        <p:spPr>
          <a:xfrm>
            <a:off x="164592" y="3511296"/>
            <a:ext cx="2011680" cy="338328"/>
          </a:xfrm>
          <a:prstGeom prst="rect">
            <a:avLst/>
          </a:prstGeom>
          <a:solidFill>
            <a:srgbClr val="FFFFFF"/>
          </a:solidFill>
          <a:ln w="6350">
            <a:solidFill>
              <a:srgbClr val="CBD5E1"/>
            </a:solidFill>
            <a:prstDash val="solid"/>
          </a:ln>
        </p:spPr>
      </p:sp>
      <p:sp>
        <p:nvSpPr>
          <p:cNvPr id="91" name="Shape 89"/>
          <p:cNvSpPr/>
          <p:nvPr/>
        </p:nvSpPr>
        <p:spPr>
          <a:xfrm>
            <a:off x="2176272" y="3511296"/>
            <a:ext cx="1371600" cy="338328"/>
          </a:xfrm>
          <a:prstGeom prst="rect">
            <a:avLst/>
          </a:prstGeom>
          <a:solidFill>
            <a:srgbClr val="FFFFFF"/>
          </a:solidFill>
          <a:ln w="6350">
            <a:solidFill>
              <a:srgbClr val="CBD5E1"/>
            </a:solidFill>
            <a:prstDash val="solid"/>
          </a:ln>
        </p:spPr>
      </p:sp>
      <p:sp>
        <p:nvSpPr>
          <p:cNvPr id="92" name="Shape 90"/>
          <p:cNvSpPr/>
          <p:nvPr/>
        </p:nvSpPr>
        <p:spPr>
          <a:xfrm>
            <a:off x="3547872" y="3511296"/>
            <a:ext cx="1417320" cy="338328"/>
          </a:xfrm>
          <a:prstGeom prst="rect">
            <a:avLst/>
          </a:prstGeom>
          <a:solidFill>
            <a:srgbClr val="FFFFFF"/>
          </a:solidFill>
          <a:ln w="6350">
            <a:solidFill>
              <a:srgbClr val="CBD5E1"/>
            </a:solidFill>
            <a:prstDash val="solid"/>
          </a:ln>
        </p:spPr>
      </p:sp>
      <p:sp>
        <p:nvSpPr>
          <p:cNvPr id="93" name="Shape 91"/>
          <p:cNvSpPr/>
          <p:nvPr/>
        </p:nvSpPr>
        <p:spPr>
          <a:xfrm>
            <a:off x="4965192" y="3511296"/>
            <a:ext cx="1371600" cy="338328"/>
          </a:xfrm>
          <a:prstGeom prst="rect">
            <a:avLst/>
          </a:prstGeom>
          <a:solidFill>
            <a:srgbClr val="FFFFFF"/>
          </a:solidFill>
          <a:ln w="6350">
            <a:solidFill>
              <a:srgbClr val="CBD5E1"/>
            </a:solidFill>
            <a:prstDash val="solid"/>
          </a:ln>
        </p:spPr>
      </p:sp>
      <p:sp>
        <p:nvSpPr>
          <p:cNvPr id="94" name="Text 92"/>
          <p:cNvSpPr/>
          <p:nvPr/>
        </p:nvSpPr>
        <p:spPr>
          <a:xfrm>
            <a:off x="219456" y="3511296"/>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Ex_Showroom_Price_Lakh</a:t>
            </a:r>
            <a:endParaRPr lang="en-US" sz="1000" dirty="0"/>
          </a:p>
        </p:txBody>
      </p:sp>
      <p:sp>
        <p:nvSpPr>
          <p:cNvPr id="95" name="Shape 93"/>
          <p:cNvSpPr/>
          <p:nvPr/>
        </p:nvSpPr>
        <p:spPr>
          <a:xfrm>
            <a:off x="2249424" y="3575304"/>
            <a:ext cx="1188720" cy="201168"/>
          </a:xfrm>
          <a:prstGeom prst="rect">
            <a:avLst/>
          </a:prstGeom>
          <a:solidFill>
            <a:srgbClr val="0A1931"/>
          </a:solidFill>
          <a:ln w="12700">
            <a:solidFill>
              <a:srgbClr val="0A1931"/>
            </a:solidFill>
            <a:prstDash val="solid"/>
          </a:ln>
        </p:spPr>
      </p:sp>
      <p:sp>
        <p:nvSpPr>
          <p:cNvPr id="96" name="Text 94"/>
          <p:cNvSpPr/>
          <p:nvPr/>
        </p:nvSpPr>
        <p:spPr>
          <a:xfrm>
            <a:off x="2249424" y="357530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97" name="Shape 95"/>
          <p:cNvSpPr/>
          <p:nvPr/>
        </p:nvSpPr>
        <p:spPr>
          <a:xfrm>
            <a:off x="3602736" y="3575304"/>
            <a:ext cx="1188720" cy="201168"/>
          </a:xfrm>
          <a:prstGeom prst="rect">
            <a:avLst/>
          </a:prstGeom>
          <a:solidFill>
            <a:srgbClr val="DC6B19"/>
          </a:solidFill>
          <a:ln w="12700">
            <a:solidFill>
              <a:srgbClr val="DC6B19"/>
            </a:solidFill>
            <a:prstDash val="solid"/>
          </a:ln>
        </p:spPr>
      </p:sp>
      <p:sp>
        <p:nvSpPr>
          <p:cNvPr id="98" name="Text 96"/>
          <p:cNvSpPr/>
          <p:nvPr/>
        </p:nvSpPr>
        <p:spPr>
          <a:xfrm>
            <a:off x="3602736" y="357530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Continuous</a:t>
            </a:r>
            <a:endParaRPr lang="en-US" sz="850" dirty="0"/>
          </a:p>
        </p:txBody>
      </p:sp>
      <p:sp>
        <p:nvSpPr>
          <p:cNvPr id="99" name="Shape 97"/>
          <p:cNvSpPr/>
          <p:nvPr/>
        </p:nvSpPr>
        <p:spPr>
          <a:xfrm>
            <a:off x="5020056" y="3575304"/>
            <a:ext cx="1188720" cy="201168"/>
          </a:xfrm>
          <a:prstGeom prst="rect">
            <a:avLst/>
          </a:prstGeom>
          <a:solidFill>
            <a:srgbClr val="065A82"/>
          </a:solidFill>
          <a:ln w="12700">
            <a:solidFill>
              <a:srgbClr val="065A82"/>
            </a:solidFill>
            <a:prstDash val="solid"/>
          </a:ln>
        </p:spPr>
      </p:sp>
      <p:sp>
        <p:nvSpPr>
          <p:cNvPr id="100" name="Text 98"/>
          <p:cNvSpPr/>
          <p:nvPr/>
        </p:nvSpPr>
        <p:spPr>
          <a:xfrm>
            <a:off x="5020056" y="3575304"/>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101" name="Shape 99"/>
          <p:cNvSpPr/>
          <p:nvPr/>
        </p:nvSpPr>
        <p:spPr>
          <a:xfrm>
            <a:off x="164592" y="3849624"/>
            <a:ext cx="2011680" cy="338328"/>
          </a:xfrm>
          <a:prstGeom prst="rect">
            <a:avLst/>
          </a:prstGeom>
          <a:solidFill>
            <a:srgbClr val="F1F5F9"/>
          </a:solidFill>
          <a:ln w="6350">
            <a:solidFill>
              <a:srgbClr val="CBD5E1"/>
            </a:solidFill>
            <a:prstDash val="solid"/>
          </a:ln>
        </p:spPr>
      </p:sp>
      <p:sp>
        <p:nvSpPr>
          <p:cNvPr id="102" name="Shape 100"/>
          <p:cNvSpPr/>
          <p:nvPr/>
        </p:nvSpPr>
        <p:spPr>
          <a:xfrm>
            <a:off x="2176272" y="3849624"/>
            <a:ext cx="1371600" cy="338328"/>
          </a:xfrm>
          <a:prstGeom prst="rect">
            <a:avLst/>
          </a:prstGeom>
          <a:solidFill>
            <a:srgbClr val="F1F5F9"/>
          </a:solidFill>
          <a:ln w="6350">
            <a:solidFill>
              <a:srgbClr val="CBD5E1"/>
            </a:solidFill>
            <a:prstDash val="solid"/>
          </a:ln>
        </p:spPr>
      </p:sp>
      <p:sp>
        <p:nvSpPr>
          <p:cNvPr id="103" name="Shape 101"/>
          <p:cNvSpPr/>
          <p:nvPr/>
        </p:nvSpPr>
        <p:spPr>
          <a:xfrm>
            <a:off x="3547872" y="3849624"/>
            <a:ext cx="1417320" cy="338328"/>
          </a:xfrm>
          <a:prstGeom prst="rect">
            <a:avLst/>
          </a:prstGeom>
          <a:solidFill>
            <a:srgbClr val="F1F5F9"/>
          </a:solidFill>
          <a:ln w="6350">
            <a:solidFill>
              <a:srgbClr val="CBD5E1"/>
            </a:solidFill>
            <a:prstDash val="solid"/>
          </a:ln>
        </p:spPr>
      </p:sp>
      <p:sp>
        <p:nvSpPr>
          <p:cNvPr id="104" name="Shape 102"/>
          <p:cNvSpPr/>
          <p:nvPr/>
        </p:nvSpPr>
        <p:spPr>
          <a:xfrm>
            <a:off x="4965192" y="3849624"/>
            <a:ext cx="1371600" cy="338328"/>
          </a:xfrm>
          <a:prstGeom prst="rect">
            <a:avLst/>
          </a:prstGeom>
          <a:solidFill>
            <a:srgbClr val="F1F5F9"/>
          </a:solidFill>
          <a:ln w="6350">
            <a:solidFill>
              <a:srgbClr val="CBD5E1"/>
            </a:solidFill>
            <a:prstDash val="solid"/>
          </a:ln>
        </p:spPr>
      </p:sp>
      <p:sp>
        <p:nvSpPr>
          <p:cNvPr id="105" name="Text 103"/>
          <p:cNvSpPr/>
          <p:nvPr/>
        </p:nvSpPr>
        <p:spPr>
          <a:xfrm>
            <a:off x="219456" y="3849624"/>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Mileage_KMPL</a:t>
            </a:r>
            <a:endParaRPr lang="en-US" sz="1000" dirty="0"/>
          </a:p>
        </p:txBody>
      </p:sp>
      <p:sp>
        <p:nvSpPr>
          <p:cNvPr id="106" name="Shape 104"/>
          <p:cNvSpPr/>
          <p:nvPr/>
        </p:nvSpPr>
        <p:spPr>
          <a:xfrm>
            <a:off x="2249424" y="3913632"/>
            <a:ext cx="1188720" cy="201168"/>
          </a:xfrm>
          <a:prstGeom prst="rect">
            <a:avLst/>
          </a:prstGeom>
          <a:solidFill>
            <a:srgbClr val="0A1931"/>
          </a:solidFill>
          <a:ln w="12700">
            <a:solidFill>
              <a:srgbClr val="0A1931"/>
            </a:solidFill>
            <a:prstDash val="solid"/>
          </a:ln>
        </p:spPr>
      </p:sp>
      <p:sp>
        <p:nvSpPr>
          <p:cNvPr id="107" name="Text 105"/>
          <p:cNvSpPr/>
          <p:nvPr/>
        </p:nvSpPr>
        <p:spPr>
          <a:xfrm>
            <a:off x="2249424" y="391363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108" name="Shape 106"/>
          <p:cNvSpPr/>
          <p:nvPr/>
        </p:nvSpPr>
        <p:spPr>
          <a:xfrm>
            <a:off x="3602736" y="3913632"/>
            <a:ext cx="1188720" cy="201168"/>
          </a:xfrm>
          <a:prstGeom prst="rect">
            <a:avLst/>
          </a:prstGeom>
          <a:solidFill>
            <a:srgbClr val="DC6B19"/>
          </a:solidFill>
          <a:ln w="12700">
            <a:solidFill>
              <a:srgbClr val="DC6B19"/>
            </a:solidFill>
            <a:prstDash val="solid"/>
          </a:ln>
        </p:spPr>
      </p:sp>
      <p:sp>
        <p:nvSpPr>
          <p:cNvPr id="109" name="Text 107"/>
          <p:cNvSpPr/>
          <p:nvPr/>
        </p:nvSpPr>
        <p:spPr>
          <a:xfrm>
            <a:off x="3602736" y="391363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Continuous</a:t>
            </a:r>
            <a:endParaRPr lang="en-US" sz="850" dirty="0"/>
          </a:p>
        </p:txBody>
      </p:sp>
      <p:sp>
        <p:nvSpPr>
          <p:cNvPr id="110" name="Shape 108"/>
          <p:cNvSpPr/>
          <p:nvPr/>
        </p:nvSpPr>
        <p:spPr>
          <a:xfrm>
            <a:off x="5020056" y="3913632"/>
            <a:ext cx="1188720" cy="201168"/>
          </a:xfrm>
          <a:prstGeom prst="rect">
            <a:avLst/>
          </a:prstGeom>
          <a:solidFill>
            <a:srgbClr val="065A82"/>
          </a:solidFill>
          <a:ln w="12700">
            <a:solidFill>
              <a:srgbClr val="065A82"/>
            </a:solidFill>
            <a:prstDash val="solid"/>
          </a:ln>
        </p:spPr>
      </p:sp>
      <p:sp>
        <p:nvSpPr>
          <p:cNvPr id="111" name="Text 109"/>
          <p:cNvSpPr/>
          <p:nvPr/>
        </p:nvSpPr>
        <p:spPr>
          <a:xfrm>
            <a:off x="5020056" y="3913632"/>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112" name="Shape 110"/>
          <p:cNvSpPr/>
          <p:nvPr/>
        </p:nvSpPr>
        <p:spPr>
          <a:xfrm>
            <a:off x="164592" y="4187952"/>
            <a:ext cx="2011680" cy="338328"/>
          </a:xfrm>
          <a:prstGeom prst="rect">
            <a:avLst/>
          </a:prstGeom>
          <a:solidFill>
            <a:srgbClr val="FFFFFF"/>
          </a:solidFill>
          <a:ln w="6350">
            <a:solidFill>
              <a:srgbClr val="CBD5E1"/>
            </a:solidFill>
            <a:prstDash val="solid"/>
          </a:ln>
        </p:spPr>
      </p:sp>
      <p:sp>
        <p:nvSpPr>
          <p:cNvPr id="113" name="Shape 111"/>
          <p:cNvSpPr/>
          <p:nvPr/>
        </p:nvSpPr>
        <p:spPr>
          <a:xfrm>
            <a:off x="2176272" y="4187952"/>
            <a:ext cx="1371600" cy="338328"/>
          </a:xfrm>
          <a:prstGeom prst="rect">
            <a:avLst/>
          </a:prstGeom>
          <a:solidFill>
            <a:srgbClr val="FFFFFF"/>
          </a:solidFill>
          <a:ln w="6350">
            <a:solidFill>
              <a:srgbClr val="CBD5E1"/>
            </a:solidFill>
            <a:prstDash val="solid"/>
          </a:ln>
        </p:spPr>
      </p:sp>
      <p:sp>
        <p:nvSpPr>
          <p:cNvPr id="114" name="Shape 112"/>
          <p:cNvSpPr/>
          <p:nvPr/>
        </p:nvSpPr>
        <p:spPr>
          <a:xfrm>
            <a:off x="3547872" y="4187952"/>
            <a:ext cx="1417320" cy="338328"/>
          </a:xfrm>
          <a:prstGeom prst="rect">
            <a:avLst/>
          </a:prstGeom>
          <a:solidFill>
            <a:srgbClr val="FFFFFF"/>
          </a:solidFill>
          <a:ln w="6350">
            <a:solidFill>
              <a:srgbClr val="CBD5E1"/>
            </a:solidFill>
            <a:prstDash val="solid"/>
          </a:ln>
        </p:spPr>
      </p:sp>
      <p:sp>
        <p:nvSpPr>
          <p:cNvPr id="115" name="Shape 113"/>
          <p:cNvSpPr/>
          <p:nvPr/>
        </p:nvSpPr>
        <p:spPr>
          <a:xfrm>
            <a:off x="4965192" y="4187952"/>
            <a:ext cx="1371600" cy="338328"/>
          </a:xfrm>
          <a:prstGeom prst="rect">
            <a:avLst/>
          </a:prstGeom>
          <a:solidFill>
            <a:srgbClr val="FFFFFF"/>
          </a:solidFill>
          <a:ln w="6350">
            <a:solidFill>
              <a:srgbClr val="CBD5E1"/>
            </a:solidFill>
            <a:prstDash val="solid"/>
          </a:ln>
        </p:spPr>
      </p:sp>
      <p:sp>
        <p:nvSpPr>
          <p:cNvPr id="116" name="Text 114"/>
          <p:cNvSpPr/>
          <p:nvPr/>
        </p:nvSpPr>
        <p:spPr>
          <a:xfrm>
            <a:off x="219456" y="4187952"/>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Customer_Rating</a:t>
            </a:r>
            <a:endParaRPr lang="en-US" sz="1000" dirty="0"/>
          </a:p>
        </p:txBody>
      </p:sp>
      <p:sp>
        <p:nvSpPr>
          <p:cNvPr id="117" name="Shape 115"/>
          <p:cNvSpPr/>
          <p:nvPr/>
        </p:nvSpPr>
        <p:spPr>
          <a:xfrm>
            <a:off x="2249424" y="4251960"/>
            <a:ext cx="1188720" cy="201168"/>
          </a:xfrm>
          <a:prstGeom prst="rect">
            <a:avLst/>
          </a:prstGeom>
          <a:solidFill>
            <a:srgbClr val="0A1931"/>
          </a:solidFill>
          <a:ln w="12700">
            <a:solidFill>
              <a:srgbClr val="0A1931"/>
            </a:solidFill>
            <a:prstDash val="solid"/>
          </a:ln>
        </p:spPr>
      </p:sp>
      <p:sp>
        <p:nvSpPr>
          <p:cNvPr id="118" name="Text 116"/>
          <p:cNvSpPr/>
          <p:nvPr/>
        </p:nvSpPr>
        <p:spPr>
          <a:xfrm>
            <a:off x="2249424" y="425196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119" name="Shape 117"/>
          <p:cNvSpPr/>
          <p:nvPr/>
        </p:nvSpPr>
        <p:spPr>
          <a:xfrm>
            <a:off x="3602736" y="4251960"/>
            <a:ext cx="1188720" cy="201168"/>
          </a:xfrm>
          <a:prstGeom prst="rect">
            <a:avLst/>
          </a:prstGeom>
          <a:solidFill>
            <a:srgbClr val="DC6B19"/>
          </a:solidFill>
          <a:ln w="12700">
            <a:solidFill>
              <a:srgbClr val="DC6B19"/>
            </a:solidFill>
            <a:prstDash val="solid"/>
          </a:ln>
        </p:spPr>
      </p:sp>
      <p:sp>
        <p:nvSpPr>
          <p:cNvPr id="120" name="Text 118"/>
          <p:cNvSpPr/>
          <p:nvPr/>
        </p:nvSpPr>
        <p:spPr>
          <a:xfrm>
            <a:off x="3602736" y="425196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Continuous</a:t>
            </a:r>
            <a:endParaRPr lang="en-US" sz="850" dirty="0"/>
          </a:p>
        </p:txBody>
      </p:sp>
      <p:sp>
        <p:nvSpPr>
          <p:cNvPr id="121" name="Shape 119"/>
          <p:cNvSpPr/>
          <p:nvPr/>
        </p:nvSpPr>
        <p:spPr>
          <a:xfrm>
            <a:off x="5020056" y="4251960"/>
            <a:ext cx="1188720" cy="201168"/>
          </a:xfrm>
          <a:prstGeom prst="rect">
            <a:avLst/>
          </a:prstGeom>
          <a:solidFill>
            <a:srgbClr val="0284C7"/>
          </a:solidFill>
          <a:ln w="12700">
            <a:solidFill>
              <a:srgbClr val="0284C7"/>
            </a:solidFill>
            <a:prstDash val="solid"/>
          </a:ln>
        </p:spPr>
      </p:sp>
      <p:sp>
        <p:nvSpPr>
          <p:cNvPr id="122" name="Text 120"/>
          <p:cNvSpPr/>
          <p:nvPr/>
        </p:nvSpPr>
        <p:spPr>
          <a:xfrm>
            <a:off x="5020056" y="4251960"/>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Interval</a:t>
            </a:r>
            <a:endParaRPr lang="en-US" sz="850" dirty="0"/>
          </a:p>
        </p:txBody>
      </p:sp>
      <p:sp>
        <p:nvSpPr>
          <p:cNvPr id="123" name="Shape 121"/>
          <p:cNvSpPr/>
          <p:nvPr/>
        </p:nvSpPr>
        <p:spPr>
          <a:xfrm>
            <a:off x="164592" y="4526280"/>
            <a:ext cx="2011680" cy="338328"/>
          </a:xfrm>
          <a:prstGeom prst="rect">
            <a:avLst/>
          </a:prstGeom>
          <a:solidFill>
            <a:srgbClr val="F1F5F9"/>
          </a:solidFill>
          <a:ln w="6350">
            <a:solidFill>
              <a:srgbClr val="CBD5E1"/>
            </a:solidFill>
            <a:prstDash val="solid"/>
          </a:ln>
        </p:spPr>
      </p:sp>
      <p:sp>
        <p:nvSpPr>
          <p:cNvPr id="124" name="Shape 122"/>
          <p:cNvSpPr/>
          <p:nvPr/>
        </p:nvSpPr>
        <p:spPr>
          <a:xfrm>
            <a:off x="2176272" y="4526280"/>
            <a:ext cx="1371600" cy="338328"/>
          </a:xfrm>
          <a:prstGeom prst="rect">
            <a:avLst/>
          </a:prstGeom>
          <a:solidFill>
            <a:srgbClr val="F1F5F9"/>
          </a:solidFill>
          <a:ln w="6350">
            <a:solidFill>
              <a:srgbClr val="CBD5E1"/>
            </a:solidFill>
            <a:prstDash val="solid"/>
          </a:ln>
        </p:spPr>
      </p:sp>
      <p:sp>
        <p:nvSpPr>
          <p:cNvPr id="125" name="Shape 123"/>
          <p:cNvSpPr/>
          <p:nvPr/>
        </p:nvSpPr>
        <p:spPr>
          <a:xfrm>
            <a:off x="3547872" y="4526280"/>
            <a:ext cx="1417320" cy="338328"/>
          </a:xfrm>
          <a:prstGeom prst="rect">
            <a:avLst/>
          </a:prstGeom>
          <a:solidFill>
            <a:srgbClr val="F1F5F9"/>
          </a:solidFill>
          <a:ln w="6350">
            <a:solidFill>
              <a:srgbClr val="CBD5E1"/>
            </a:solidFill>
            <a:prstDash val="solid"/>
          </a:ln>
        </p:spPr>
      </p:sp>
      <p:sp>
        <p:nvSpPr>
          <p:cNvPr id="126" name="Shape 124"/>
          <p:cNvSpPr/>
          <p:nvPr/>
        </p:nvSpPr>
        <p:spPr>
          <a:xfrm>
            <a:off x="4965192" y="4526280"/>
            <a:ext cx="1371600" cy="338328"/>
          </a:xfrm>
          <a:prstGeom prst="rect">
            <a:avLst/>
          </a:prstGeom>
          <a:solidFill>
            <a:srgbClr val="F1F5F9"/>
          </a:solidFill>
          <a:ln w="6350">
            <a:solidFill>
              <a:srgbClr val="CBD5E1"/>
            </a:solidFill>
            <a:prstDash val="solid"/>
          </a:ln>
        </p:spPr>
      </p:sp>
      <p:sp>
        <p:nvSpPr>
          <p:cNvPr id="127" name="Text 125"/>
          <p:cNvSpPr/>
          <p:nvPr/>
        </p:nvSpPr>
        <p:spPr>
          <a:xfrm>
            <a:off x="219456" y="4526280"/>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Revenue_Crores</a:t>
            </a:r>
            <a:endParaRPr lang="en-US" sz="1000" dirty="0"/>
          </a:p>
        </p:txBody>
      </p:sp>
      <p:sp>
        <p:nvSpPr>
          <p:cNvPr id="128" name="Shape 126"/>
          <p:cNvSpPr/>
          <p:nvPr/>
        </p:nvSpPr>
        <p:spPr>
          <a:xfrm>
            <a:off x="2249424" y="4590288"/>
            <a:ext cx="1188720" cy="201168"/>
          </a:xfrm>
          <a:prstGeom prst="rect">
            <a:avLst/>
          </a:prstGeom>
          <a:solidFill>
            <a:srgbClr val="0A1931"/>
          </a:solidFill>
          <a:ln w="12700">
            <a:solidFill>
              <a:srgbClr val="0A1931"/>
            </a:solidFill>
            <a:prstDash val="solid"/>
          </a:ln>
        </p:spPr>
      </p:sp>
      <p:sp>
        <p:nvSpPr>
          <p:cNvPr id="129" name="Text 127"/>
          <p:cNvSpPr/>
          <p:nvPr/>
        </p:nvSpPr>
        <p:spPr>
          <a:xfrm>
            <a:off x="2249424" y="459028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130" name="Shape 128"/>
          <p:cNvSpPr/>
          <p:nvPr/>
        </p:nvSpPr>
        <p:spPr>
          <a:xfrm>
            <a:off x="3602736" y="4590288"/>
            <a:ext cx="1188720" cy="201168"/>
          </a:xfrm>
          <a:prstGeom prst="rect">
            <a:avLst/>
          </a:prstGeom>
          <a:solidFill>
            <a:srgbClr val="DC6B19"/>
          </a:solidFill>
          <a:ln w="12700">
            <a:solidFill>
              <a:srgbClr val="DC6B19"/>
            </a:solidFill>
            <a:prstDash val="solid"/>
          </a:ln>
        </p:spPr>
      </p:sp>
      <p:sp>
        <p:nvSpPr>
          <p:cNvPr id="131" name="Text 129"/>
          <p:cNvSpPr/>
          <p:nvPr/>
        </p:nvSpPr>
        <p:spPr>
          <a:xfrm>
            <a:off x="3602736" y="459028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Continuous</a:t>
            </a:r>
            <a:endParaRPr lang="en-US" sz="850" dirty="0"/>
          </a:p>
        </p:txBody>
      </p:sp>
      <p:sp>
        <p:nvSpPr>
          <p:cNvPr id="132" name="Shape 130"/>
          <p:cNvSpPr/>
          <p:nvPr/>
        </p:nvSpPr>
        <p:spPr>
          <a:xfrm>
            <a:off x="5020056" y="4590288"/>
            <a:ext cx="1188720" cy="201168"/>
          </a:xfrm>
          <a:prstGeom prst="rect">
            <a:avLst/>
          </a:prstGeom>
          <a:solidFill>
            <a:srgbClr val="065A82"/>
          </a:solidFill>
          <a:ln w="12700">
            <a:solidFill>
              <a:srgbClr val="065A82"/>
            </a:solidFill>
            <a:prstDash val="solid"/>
          </a:ln>
        </p:spPr>
      </p:sp>
      <p:sp>
        <p:nvSpPr>
          <p:cNvPr id="133" name="Text 131"/>
          <p:cNvSpPr/>
          <p:nvPr/>
        </p:nvSpPr>
        <p:spPr>
          <a:xfrm>
            <a:off x="5020056" y="4590288"/>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sp>
        <p:nvSpPr>
          <p:cNvPr id="134" name="Shape 132"/>
          <p:cNvSpPr/>
          <p:nvPr/>
        </p:nvSpPr>
        <p:spPr>
          <a:xfrm>
            <a:off x="164592" y="4864608"/>
            <a:ext cx="2011680" cy="338328"/>
          </a:xfrm>
          <a:prstGeom prst="rect">
            <a:avLst/>
          </a:prstGeom>
          <a:solidFill>
            <a:srgbClr val="FFFFFF"/>
          </a:solidFill>
          <a:ln w="6350">
            <a:solidFill>
              <a:srgbClr val="CBD5E1"/>
            </a:solidFill>
            <a:prstDash val="solid"/>
          </a:ln>
        </p:spPr>
      </p:sp>
      <p:sp>
        <p:nvSpPr>
          <p:cNvPr id="135" name="Shape 133"/>
          <p:cNvSpPr/>
          <p:nvPr/>
        </p:nvSpPr>
        <p:spPr>
          <a:xfrm>
            <a:off x="2176272" y="4864608"/>
            <a:ext cx="1371600" cy="338328"/>
          </a:xfrm>
          <a:prstGeom prst="rect">
            <a:avLst/>
          </a:prstGeom>
          <a:solidFill>
            <a:srgbClr val="FFFFFF"/>
          </a:solidFill>
          <a:ln w="6350">
            <a:solidFill>
              <a:srgbClr val="CBD5E1"/>
            </a:solidFill>
            <a:prstDash val="solid"/>
          </a:ln>
        </p:spPr>
      </p:sp>
      <p:sp>
        <p:nvSpPr>
          <p:cNvPr id="136" name="Shape 134"/>
          <p:cNvSpPr/>
          <p:nvPr/>
        </p:nvSpPr>
        <p:spPr>
          <a:xfrm>
            <a:off x="3547872" y="4864608"/>
            <a:ext cx="1417320" cy="338328"/>
          </a:xfrm>
          <a:prstGeom prst="rect">
            <a:avLst/>
          </a:prstGeom>
          <a:solidFill>
            <a:srgbClr val="FFFFFF"/>
          </a:solidFill>
          <a:ln w="6350">
            <a:solidFill>
              <a:srgbClr val="CBD5E1"/>
            </a:solidFill>
            <a:prstDash val="solid"/>
          </a:ln>
        </p:spPr>
      </p:sp>
      <p:sp>
        <p:nvSpPr>
          <p:cNvPr id="137" name="Shape 135"/>
          <p:cNvSpPr/>
          <p:nvPr/>
        </p:nvSpPr>
        <p:spPr>
          <a:xfrm>
            <a:off x="4965192" y="4864608"/>
            <a:ext cx="1371600" cy="338328"/>
          </a:xfrm>
          <a:prstGeom prst="rect">
            <a:avLst/>
          </a:prstGeom>
          <a:solidFill>
            <a:srgbClr val="FFFFFF"/>
          </a:solidFill>
          <a:ln w="6350">
            <a:solidFill>
              <a:srgbClr val="CBD5E1"/>
            </a:solidFill>
            <a:prstDash val="solid"/>
          </a:ln>
        </p:spPr>
      </p:sp>
      <p:sp>
        <p:nvSpPr>
          <p:cNvPr id="138" name="Text 136"/>
          <p:cNvSpPr/>
          <p:nvPr/>
        </p:nvSpPr>
        <p:spPr>
          <a:xfrm>
            <a:off x="219456" y="4864608"/>
            <a:ext cx="1901952" cy="33832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Annual_Service_Cost</a:t>
            </a:r>
            <a:endParaRPr lang="en-US" sz="1000" dirty="0"/>
          </a:p>
        </p:txBody>
      </p:sp>
      <p:sp>
        <p:nvSpPr>
          <p:cNvPr id="139" name="Shape 137"/>
          <p:cNvSpPr/>
          <p:nvPr/>
        </p:nvSpPr>
        <p:spPr>
          <a:xfrm>
            <a:off x="2249424" y="4928616"/>
            <a:ext cx="1188720" cy="201168"/>
          </a:xfrm>
          <a:prstGeom prst="rect">
            <a:avLst/>
          </a:prstGeom>
          <a:solidFill>
            <a:srgbClr val="0A1931"/>
          </a:solidFill>
          <a:ln w="12700">
            <a:solidFill>
              <a:srgbClr val="0A1931"/>
            </a:solidFill>
            <a:prstDash val="solid"/>
          </a:ln>
        </p:spPr>
      </p:sp>
      <p:sp>
        <p:nvSpPr>
          <p:cNvPr id="140" name="Text 138"/>
          <p:cNvSpPr/>
          <p:nvPr/>
        </p:nvSpPr>
        <p:spPr>
          <a:xfrm>
            <a:off x="2249424" y="492861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Quantitative</a:t>
            </a:r>
            <a:endParaRPr lang="en-US" sz="850" dirty="0"/>
          </a:p>
        </p:txBody>
      </p:sp>
      <p:sp>
        <p:nvSpPr>
          <p:cNvPr id="141" name="Shape 139"/>
          <p:cNvSpPr/>
          <p:nvPr/>
        </p:nvSpPr>
        <p:spPr>
          <a:xfrm>
            <a:off x="3602736" y="4928616"/>
            <a:ext cx="1188720" cy="201168"/>
          </a:xfrm>
          <a:prstGeom prst="rect">
            <a:avLst/>
          </a:prstGeom>
          <a:solidFill>
            <a:srgbClr val="DC6B19"/>
          </a:solidFill>
          <a:ln w="12700">
            <a:solidFill>
              <a:srgbClr val="DC6B19"/>
            </a:solidFill>
            <a:prstDash val="solid"/>
          </a:ln>
        </p:spPr>
      </p:sp>
      <p:sp>
        <p:nvSpPr>
          <p:cNvPr id="142" name="Text 140"/>
          <p:cNvSpPr/>
          <p:nvPr/>
        </p:nvSpPr>
        <p:spPr>
          <a:xfrm>
            <a:off x="3602736" y="492861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Continuous</a:t>
            </a:r>
            <a:endParaRPr lang="en-US" sz="850" dirty="0"/>
          </a:p>
        </p:txBody>
      </p:sp>
      <p:sp>
        <p:nvSpPr>
          <p:cNvPr id="143" name="Shape 141"/>
          <p:cNvSpPr/>
          <p:nvPr/>
        </p:nvSpPr>
        <p:spPr>
          <a:xfrm>
            <a:off x="5020056" y="4928616"/>
            <a:ext cx="1188720" cy="201168"/>
          </a:xfrm>
          <a:prstGeom prst="rect">
            <a:avLst/>
          </a:prstGeom>
          <a:solidFill>
            <a:srgbClr val="065A82"/>
          </a:solidFill>
          <a:ln w="12700">
            <a:solidFill>
              <a:srgbClr val="065A82"/>
            </a:solidFill>
            <a:prstDash val="solid"/>
          </a:ln>
        </p:spPr>
      </p:sp>
      <p:sp>
        <p:nvSpPr>
          <p:cNvPr id="144" name="Text 142"/>
          <p:cNvSpPr/>
          <p:nvPr/>
        </p:nvSpPr>
        <p:spPr>
          <a:xfrm>
            <a:off x="5020056" y="4928616"/>
            <a:ext cx="1188720"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Ratio</a:t>
            </a:r>
            <a:endParaRPr lang="en-US" sz="850" dirty="0"/>
          </a:p>
        </p:txBody>
      </p:sp>
      <p:pic>
        <p:nvPicPr>
          <p:cNvPr id="1026" name="Picture 2" descr="Data classification Generic Flat Gradient icon | Freep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1747" y="1834956"/>
            <a:ext cx="1924730" cy="192473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Data Binning &amp; Categorical Encoding</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164592" y="804672"/>
            <a:ext cx="5029200" cy="274320"/>
          </a:xfrm>
          <a:prstGeom prst="rect">
            <a:avLst/>
          </a:prstGeom>
          <a:solidFill>
            <a:srgbClr val="0E6BA8"/>
          </a:solidFill>
          <a:ln w="12700">
            <a:solidFill>
              <a:srgbClr val="0E6BA8"/>
            </a:solidFill>
            <a:prstDash val="solid"/>
          </a:ln>
        </p:spPr>
      </p:sp>
      <p:sp>
        <p:nvSpPr>
          <p:cNvPr id="6" name="Text 4"/>
          <p:cNvSpPr/>
          <p:nvPr/>
        </p:nvSpPr>
        <p:spPr>
          <a:xfrm>
            <a:off x="164592" y="804672"/>
            <a:ext cx="5029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BINNING — Continuous → Categorical Groups</a:t>
            </a:r>
            <a:endParaRPr lang="en-US" sz="1000" dirty="0"/>
          </a:p>
        </p:txBody>
      </p:sp>
      <p:sp>
        <p:nvSpPr>
          <p:cNvPr id="7" name="Shape 5"/>
          <p:cNvSpPr/>
          <p:nvPr/>
        </p:nvSpPr>
        <p:spPr>
          <a:xfrm>
            <a:off x="164592" y="1078992"/>
            <a:ext cx="1280160" cy="274320"/>
          </a:xfrm>
          <a:prstGeom prst="rect">
            <a:avLst/>
          </a:prstGeom>
          <a:solidFill>
            <a:srgbClr val="0A1931"/>
          </a:solidFill>
          <a:ln w="6350">
            <a:solidFill>
              <a:srgbClr val="FFFFFF"/>
            </a:solidFill>
            <a:prstDash val="solid"/>
          </a:ln>
        </p:spPr>
      </p:sp>
      <p:sp>
        <p:nvSpPr>
          <p:cNvPr id="8" name="Text 6"/>
          <p:cNvSpPr/>
          <p:nvPr/>
        </p:nvSpPr>
        <p:spPr>
          <a:xfrm>
            <a:off x="192024" y="1078992"/>
            <a:ext cx="12252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Column</a:t>
            </a:r>
            <a:endParaRPr lang="en-US" sz="950" dirty="0"/>
          </a:p>
        </p:txBody>
      </p:sp>
      <p:sp>
        <p:nvSpPr>
          <p:cNvPr id="9" name="Shape 7"/>
          <p:cNvSpPr/>
          <p:nvPr/>
        </p:nvSpPr>
        <p:spPr>
          <a:xfrm>
            <a:off x="1444752" y="1078992"/>
            <a:ext cx="1051560" cy="274320"/>
          </a:xfrm>
          <a:prstGeom prst="rect">
            <a:avLst/>
          </a:prstGeom>
          <a:solidFill>
            <a:srgbClr val="0A1931"/>
          </a:solidFill>
          <a:ln w="6350">
            <a:solidFill>
              <a:srgbClr val="FFFFFF"/>
            </a:solidFill>
            <a:prstDash val="solid"/>
          </a:ln>
        </p:spPr>
      </p:sp>
      <p:sp>
        <p:nvSpPr>
          <p:cNvPr id="10" name="Text 8"/>
          <p:cNvSpPr/>
          <p:nvPr/>
        </p:nvSpPr>
        <p:spPr>
          <a:xfrm>
            <a:off x="1472184" y="1078992"/>
            <a:ext cx="9966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Method</a:t>
            </a:r>
            <a:endParaRPr lang="en-US" sz="950" dirty="0"/>
          </a:p>
        </p:txBody>
      </p:sp>
      <p:sp>
        <p:nvSpPr>
          <p:cNvPr id="11" name="Shape 9"/>
          <p:cNvSpPr/>
          <p:nvPr/>
        </p:nvSpPr>
        <p:spPr>
          <a:xfrm>
            <a:off x="2496312" y="1078992"/>
            <a:ext cx="1508760" cy="274320"/>
          </a:xfrm>
          <a:prstGeom prst="rect">
            <a:avLst/>
          </a:prstGeom>
          <a:solidFill>
            <a:srgbClr val="0A1931"/>
          </a:solidFill>
          <a:ln w="6350">
            <a:solidFill>
              <a:srgbClr val="FFFFFF"/>
            </a:solidFill>
            <a:prstDash val="solid"/>
          </a:ln>
        </p:spPr>
      </p:sp>
      <p:sp>
        <p:nvSpPr>
          <p:cNvPr id="12" name="Text 10"/>
          <p:cNvSpPr/>
          <p:nvPr/>
        </p:nvSpPr>
        <p:spPr>
          <a:xfrm>
            <a:off x="2523744" y="1078992"/>
            <a:ext cx="14538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Bins Created</a:t>
            </a:r>
            <a:endParaRPr lang="en-US" sz="950" dirty="0"/>
          </a:p>
        </p:txBody>
      </p:sp>
      <p:sp>
        <p:nvSpPr>
          <p:cNvPr id="13" name="Shape 11"/>
          <p:cNvSpPr/>
          <p:nvPr/>
        </p:nvSpPr>
        <p:spPr>
          <a:xfrm>
            <a:off x="4005072" y="1078992"/>
            <a:ext cx="1097280" cy="274320"/>
          </a:xfrm>
          <a:prstGeom prst="rect">
            <a:avLst/>
          </a:prstGeom>
          <a:solidFill>
            <a:srgbClr val="0A1931"/>
          </a:solidFill>
          <a:ln w="6350">
            <a:solidFill>
              <a:srgbClr val="FFFFFF"/>
            </a:solidFill>
            <a:prstDash val="solid"/>
          </a:ln>
        </p:spPr>
      </p:sp>
      <p:sp>
        <p:nvSpPr>
          <p:cNvPr id="14" name="Text 12"/>
          <p:cNvSpPr/>
          <p:nvPr/>
        </p:nvSpPr>
        <p:spPr>
          <a:xfrm>
            <a:off x="4032504" y="1078992"/>
            <a:ext cx="104241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Purpose</a:t>
            </a:r>
            <a:endParaRPr lang="en-US" sz="950" dirty="0"/>
          </a:p>
        </p:txBody>
      </p:sp>
      <p:sp>
        <p:nvSpPr>
          <p:cNvPr id="15" name="Shape 13"/>
          <p:cNvSpPr/>
          <p:nvPr/>
        </p:nvSpPr>
        <p:spPr>
          <a:xfrm>
            <a:off x="164592" y="1353312"/>
            <a:ext cx="1280160" cy="457200"/>
          </a:xfrm>
          <a:prstGeom prst="rect">
            <a:avLst/>
          </a:prstGeom>
          <a:solidFill>
            <a:srgbClr val="F1F5F9"/>
          </a:solidFill>
          <a:ln w="6350">
            <a:solidFill>
              <a:srgbClr val="CBD5E1"/>
            </a:solidFill>
            <a:prstDash val="solid"/>
          </a:ln>
        </p:spPr>
      </p:sp>
      <p:sp>
        <p:nvSpPr>
          <p:cNvPr id="16" name="Shape 14"/>
          <p:cNvSpPr/>
          <p:nvPr/>
        </p:nvSpPr>
        <p:spPr>
          <a:xfrm>
            <a:off x="1444752" y="1353312"/>
            <a:ext cx="1051560" cy="457200"/>
          </a:xfrm>
          <a:prstGeom prst="rect">
            <a:avLst/>
          </a:prstGeom>
          <a:solidFill>
            <a:srgbClr val="F1F5F9"/>
          </a:solidFill>
          <a:ln w="6350">
            <a:solidFill>
              <a:srgbClr val="CBD5E1"/>
            </a:solidFill>
            <a:prstDash val="solid"/>
          </a:ln>
        </p:spPr>
      </p:sp>
      <p:sp>
        <p:nvSpPr>
          <p:cNvPr id="17" name="Shape 15"/>
          <p:cNvSpPr/>
          <p:nvPr/>
        </p:nvSpPr>
        <p:spPr>
          <a:xfrm>
            <a:off x="2496312" y="1353312"/>
            <a:ext cx="1508760" cy="457200"/>
          </a:xfrm>
          <a:prstGeom prst="rect">
            <a:avLst/>
          </a:prstGeom>
          <a:solidFill>
            <a:srgbClr val="F1F5F9"/>
          </a:solidFill>
          <a:ln w="6350">
            <a:solidFill>
              <a:srgbClr val="CBD5E1"/>
            </a:solidFill>
            <a:prstDash val="solid"/>
          </a:ln>
        </p:spPr>
      </p:sp>
      <p:sp>
        <p:nvSpPr>
          <p:cNvPr id="18" name="Shape 16"/>
          <p:cNvSpPr/>
          <p:nvPr/>
        </p:nvSpPr>
        <p:spPr>
          <a:xfrm>
            <a:off x="4005072" y="1353312"/>
            <a:ext cx="1097280" cy="457200"/>
          </a:xfrm>
          <a:prstGeom prst="rect">
            <a:avLst/>
          </a:prstGeom>
          <a:solidFill>
            <a:srgbClr val="F1F5F9"/>
          </a:solidFill>
          <a:ln w="6350">
            <a:solidFill>
              <a:srgbClr val="CBD5E1"/>
            </a:solidFill>
            <a:prstDash val="solid"/>
          </a:ln>
        </p:spPr>
      </p:sp>
      <p:sp>
        <p:nvSpPr>
          <p:cNvPr id="19" name="Text 17"/>
          <p:cNvSpPr/>
          <p:nvPr/>
        </p:nvSpPr>
        <p:spPr>
          <a:xfrm>
            <a:off x="210312" y="1353312"/>
            <a:ext cx="1188720" cy="457200"/>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Ex_Showroom_Price_Lakh</a:t>
            </a:r>
            <a:endParaRPr lang="en-US" sz="900" dirty="0"/>
          </a:p>
        </p:txBody>
      </p:sp>
      <p:sp>
        <p:nvSpPr>
          <p:cNvPr id="20" name="Text 18"/>
          <p:cNvSpPr/>
          <p:nvPr/>
        </p:nvSpPr>
        <p:spPr>
          <a:xfrm>
            <a:off x="1490472" y="1353312"/>
            <a:ext cx="9601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pd.cut()</a:t>
            </a:r>
            <a:endParaRPr lang="en-US" sz="900" dirty="0"/>
          </a:p>
        </p:txBody>
      </p:sp>
      <p:sp>
        <p:nvSpPr>
          <p:cNvPr id="21" name="Text 19"/>
          <p:cNvSpPr/>
          <p:nvPr/>
        </p:nvSpPr>
        <p:spPr>
          <a:xfrm>
            <a:off x="2542032" y="1353312"/>
            <a:ext cx="14173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Budget(&lt;7L) · Mid(7–15L) · Premium(15–25L) · Luxury(25L+)</a:t>
            </a:r>
            <a:endParaRPr lang="en-US" sz="900" dirty="0"/>
          </a:p>
        </p:txBody>
      </p:sp>
      <p:sp>
        <p:nvSpPr>
          <p:cNvPr id="22" name="Text 20"/>
          <p:cNvSpPr/>
          <p:nvPr/>
        </p:nvSpPr>
        <p:spPr>
          <a:xfrm>
            <a:off x="4050792" y="1353312"/>
            <a:ext cx="100584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Equal-width grouping</a:t>
            </a:r>
            <a:endParaRPr lang="en-US" sz="900" dirty="0"/>
          </a:p>
        </p:txBody>
      </p:sp>
      <p:sp>
        <p:nvSpPr>
          <p:cNvPr id="23" name="Shape 21"/>
          <p:cNvSpPr/>
          <p:nvPr/>
        </p:nvSpPr>
        <p:spPr>
          <a:xfrm>
            <a:off x="164592" y="1810512"/>
            <a:ext cx="1280160" cy="457200"/>
          </a:xfrm>
          <a:prstGeom prst="rect">
            <a:avLst/>
          </a:prstGeom>
          <a:solidFill>
            <a:srgbClr val="FFFFFF"/>
          </a:solidFill>
          <a:ln w="6350">
            <a:solidFill>
              <a:srgbClr val="CBD5E1"/>
            </a:solidFill>
            <a:prstDash val="solid"/>
          </a:ln>
        </p:spPr>
      </p:sp>
      <p:sp>
        <p:nvSpPr>
          <p:cNvPr id="24" name="Shape 22"/>
          <p:cNvSpPr/>
          <p:nvPr/>
        </p:nvSpPr>
        <p:spPr>
          <a:xfrm>
            <a:off x="1444752" y="1810512"/>
            <a:ext cx="1051560" cy="457200"/>
          </a:xfrm>
          <a:prstGeom prst="rect">
            <a:avLst/>
          </a:prstGeom>
          <a:solidFill>
            <a:srgbClr val="FFFFFF"/>
          </a:solidFill>
          <a:ln w="6350">
            <a:solidFill>
              <a:srgbClr val="CBD5E1"/>
            </a:solidFill>
            <a:prstDash val="solid"/>
          </a:ln>
        </p:spPr>
      </p:sp>
      <p:sp>
        <p:nvSpPr>
          <p:cNvPr id="25" name="Shape 23"/>
          <p:cNvSpPr/>
          <p:nvPr/>
        </p:nvSpPr>
        <p:spPr>
          <a:xfrm>
            <a:off x="2496312" y="1810512"/>
            <a:ext cx="1508760" cy="457200"/>
          </a:xfrm>
          <a:prstGeom prst="rect">
            <a:avLst/>
          </a:prstGeom>
          <a:solidFill>
            <a:srgbClr val="FFFFFF"/>
          </a:solidFill>
          <a:ln w="6350">
            <a:solidFill>
              <a:srgbClr val="CBD5E1"/>
            </a:solidFill>
            <a:prstDash val="solid"/>
          </a:ln>
        </p:spPr>
      </p:sp>
      <p:sp>
        <p:nvSpPr>
          <p:cNvPr id="26" name="Shape 24"/>
          <p:cNvSpPr/>
          <p:nvPr/>
        </p:nvSpPr>
        <p:spPr>
          <a:xfrm>
            <a:off x="4005072" y="1810512"/>
            <a:ext cx="1097280" cy="457200"/>
          </a:xfrm>
          <a:prstGeom prst="rect">
            <a:avLst/>
          </a:prstGeom>
          <a:solidFill>
            <a:srgbClr val="FFFFFF"/>
          </a:solidFill>
          <a:ln w="6350">
            <a:solidFill>
              <a:srgbClr val="CBD5E1"/>
            </a:solidFill>
            <a:prstDash val="solid"/>
          </a:ln>
        </p:spPr>
      </p:sp>
      <p:sp>
        <p:nvSpPr>
          <p:cNvPr id="27" name="Text 25"/>
          <p:cNvSpPr/>
          <p:nvPr/>
        </p:nvSpPr>
        <p:spPr>
          <a:xfrm>
            <a:off x="210312" y="1810512"/>
            <a:ext cx="1188720" cy="457200"/>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Mileage_KMPL</a:t>
            </a:r>
            <a:endParaRPr lang="en-US" sz="900" dirty="0"/>
          </a:p>
        </p:txBody>
      </p:sp>
      <p:sp>
        <p:nvSpPr>
          <p:cNvPr id="28" name="Text 26"/>
          <p:cNvSpPr/>
          <p:nvPr/>
        </p:nvSpPr>
        <p:spPr>
          <a:xfrm>
            <a:off x="1490472" y="1810512"/>
            <a:ext cx="9601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pd.qcut()</a:t>
            </a:r>
            <a:endParaRPr lang="en-US" sz="900" dirty="0"/>
          </a:p>
        </p:txBody>
      </p:sp>
      <p:sp>
        <p:nvSpPr>
          <p:cNvPr id="29" name="Text 27"/>
          <p:cNvSpPr/>
          <p:nvPr/>
        </p:nvSpPr>
        <p:spPr>
          <a:xfrm>
            <a:off x="2542032" y="1810512"/>
            <a:ext cx="14173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Low · Medium · High · Very High (quartile-based)</a:t>
            </a:r>
            <a:endParaRPr lang="en-US" sz="900" dirty="0"/>
          </a:p>
        </p:txBody>
      </p:sp>
      <p:sp>
        <p:nvSpPr>
          <p:cNvPr id="30" name="Text 28"/>
          <p:cNvSpPr/>
          <p:nvPr/>
        </p:nvSpPr>
        <p:spPr>
          <a:xfrm>
            <a:off x="4050792" y="1810512"/>
            <a:ext cx="100584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Equal-frequency grouping</a:t>
            </a:r>
            <a:endParaRPr lang="en-US" sz="900" dirty="0"/>
          </a:p>
        </p:txBody>
      </p:sp>
      <p:sp>
        <p:nvSpPr>
          <p:cNvPr id="31" name="Shape 29"/>
          <p:cNvSpPr/>
          <p:nvPr/>
        </p:nvSpPr>
        <p:spPr>
          <a:xfrm>
            <a:off x="164592" y="2267712"/>
            <a:ext cx="1280160" cy="457200"/>
          </a:xfrm>
          <a:prstGeom prst="rect">
            <a:avLst/>
          </a:prstGeom>
          <a:solidFill>
            <a:srgbClr val="F1F5F9"/>
          </a:solidFill>
          <a:ln w="6350">
            <a:solidFill>
              <a:srgbClr val="CBD5E1"/>
            </a:solidFill>
            <a:prstDash val="solid"/>
          </a:ln>
        </p:spPr>
      </p:sp>
      <p:sp>
        <p:nvSpPr>
          <p:cNvPr id="32" name="Shape 30"/>
          <p:cNvSpPr/>
          <p:nvPr/>
        </p:nvSpPr>
        <p:spPr>
          <a:xfrm>
            <a:off x="1444752" y="2267712"/>
            <a:ext cx="1051560" cy="457200"/>
          </a:xfrm>
          <a:prstGeom prst="rect">
            <a:avLst/>
          </a:prstGeom>
          <a:solidFill>
            <a:srgbClr val="F1F5F9"/>
          </a:solidFill>
          <a:ln w="6350">
            <a:solidFill>
              <a:srgbClr val="CBD5E1"/>
            </a:solidFill>
            <a:prstDash val="solid"/>
          </a:ln>
        </p:spPr>
      </p:sp>
      <p:sp>
        <p:nvSpPr>
          <p:cNvPr id="33" name="Shape 31"/>
          <p:cNvSpPr/>
          <p:nvPr/>
        </p:nvSpPr>
        <p:spPr>
          <a:xfrm>
            <a:off x="2496312" y="2267712"/>
            <a:ext cx="1508760" cy="457200"/>
          </a:xfrm>
          <a:prstGeom prst="rect">
            <a:avLst/>
          </a:prstGeom>
          <a:solidFill>
            <a:srgbClr val="F1F5F9"/>
          </a:solidFill>
          <a:ln w="6350">
            <a:solidFill>
              <a:srgbClr val="CBD5E1"/>
            </a:solidFill>
            <a:prstDash val="solid"/>
          </a:ln>
        </p:spPr>
      </p:sp>
      <p:sp>
        <p:nvSpPr>
          <p:cNvPr id="34" name="Shape 32"/>
          <p:cNvSpPr/>
          <p:nvPr/>
        </p:nvSpPr>
        <p:spPr>
          <a:xfrm>
            <a:off x="4005072" y="2267712"/>
            <a:ext cx="1097280" cy="457200"/>
          </a:xfrm>
          <a:prstGeom prst="rect">
            <a:avLst/>
          </a:prstGeom>
          <a:solidFill>
            <a:srgbClr val="F1F5F9"/>
          </a:solidFill>
          <a:ln w="6350">
            <a:solidFill>
              <a:srgbClr val="CBD5E1"/>
            </a:solidFill>
            <a:prstDash val="solid"/>
          </a:ln>
        </p:spPr>
      </p:sp>
      <p:sp>
        <p:nvSpPr>
          <p:cNvPr id="35" name="Text 33"/>
          <p:cNvSpPr/>
          <p:nvPr/>
        </p:nvSpPr>
        <p:spPr>
          <a:xfrm>
            <a:off x="210312" y="2267712"/>
            <a:ext cx="1188720" cy="457200"/>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Customer_Rating</a:t>
            </a:r>
            <a:endParaRPr lang="en-US" sz="900" dirty="0"/>
          </a:p>
        </p:txBody>
      </p:sp>
      <p:sp>
        <p:nvSpPr>
          <p:cNvPr id="36" name="Text 34"/>
          <p:cNvSpPr/>
          <p:nvPr/>
        </p:nvSpPr>
        <p:spPr>
          <a:xfrm>
            <a:off x="1490472" y="2267712"/>
            <a:ext cx="9601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pd.cut()</a:t>
            </a:r>
            <a:endParaRPr lang="en-US" sz="900" dirty="0"/>
          </a:p>
        </p:txBody>
      </p:sp>
      <p:sp>
        <p:nvSpPr>
          <p:cNvPr id="37" name="Text 35"/>
          <p:cNvSpPr/>
          <p:nvPr/>
        </p:nvSpPr>
        <p:spPr>
          <a:xfrm>
            <a:off x="2542032" y="2267712"/>
            <a:ext cx="141732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Poor(0–2) · Avg(2–3.5) · Good(3.5–4.5) · Excellent(4.5–5)</a:t>
            </a:r>
            <a:endParaRPr lang="en-US" sz="900" dirty="0"/>
          </a:p>
        </p:txBody>
      </p:sp>
      <p:sp>
        <p:nvSpPr>
          <p:cNvPr id="38" name="Text 36"/>
          <p:cNvSpPr/>
          <p:nvPr/>
        </p:nvSpPr>
        <p:spPr>
          <a:xfrm>
            <a:off x="4050792" y="2267712"/>
            <a:ext cx="1005840" cy="45720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Custom boundary grouping</a:t>
            </a:r>
            <a:endParaRPr lang="en-US" sz="900" dirty="0"/>
          </a:p>
        </p:txBody>
      </p:sp>
      <p:sp>
        <p:nvSpPr>
          <p:cNvPr id="39" name="Shape 37"/>
          <p:cNvSpPr/>
          <p:nvPr/>
        </p:nvSpPr>
        <p:spPr>
          <a:xfrm>
            <a:off x="164592" y="2761488"/>
            <a:ext cx="5029200" cy="274320"/>
          </a:xfrm>
          <a:prstGeom prst="rect">
            <a:avLst/>
          </a:prstGeom>
          <a:solidFill>
            <a:srgbClr val="065A82"/>
          </a:solidFill>
          <a:ln w="12700">
            <a:solidFill>
              <a:srgbClr val="065A82"/>
            </a:solidFill>
            <a:prstDash val="solid"/>
          </a:ln>
        </p:spPr>
      </p:sp>
      <p:sp>
        <p:nvSpPr>
          <p:cNvPr id="40" name="Text 38"/>
          <p:cNvSpPr/>
          <p:nvPr/>
        </p:nvSpPr>
        <p:spPr>
          <a:xfrm>
            <a:off x="164592" y="2761488"/>
            <a:ext cx="5029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CATEGORICAL ENCODING — Turning Text into Numbers</a:t>
            </a:r>
            <a:endParaRPr lang="en-US" sz="1000" dirty="0"/>
          </a:p>
        </p:txBody>
      </p:sp>
      <p:sp>
        <p:nvSpPr>
          <p:cNvPr id="41" name="Shape 39"/>
          <p:cNvSpPr/>
          <p:nvPr/>
        </p:nvSpPr>
        <p:spPr>
          <a:xfrm>
            <a:off x="164592" y="3035808"/>
            <a:ext cx="1280160" cy="274320"/>
          </a:xfrm>
          <a:prstGeom prst="rect">
            <a:avLst/>
          </a:prstGeom>
          <a:solidFill>
            <a:srgbClr val="0A1931"/>
          </a:solidFill>
          <a:ln w="6350">
            <a:solidFill>
              <a:srgbClr val="FFFFFF"/>
            </a:solidFill>
            <a:prstDash val="solid"/>
          </a:ln>
        </p:spPr>
      </p:sp>
      <p:sp>
        <p:nvSpPr>
          <p:cNvPr id="42" name="Text 40"/>
          <p:cNvSpPr/>
          <p:nvPr/>
        </p:nvSpPr>
        <p:spPr>
          <a:xfrm>
            <a:off x="192024" y="3035808"/>
            <a:ext cx="12252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Method</a:t>
            </a:r>
            <a:endParaRPr lang="en-US" sz="950" dirty="0"/>
          </a:p>
        </p:txBody>
      </p:sp>
      <p:sp>
        <p:nvSpPr>
          <p:cNvPr id="43" name="Shape 41"/>
          <p:cNvSpPr/>
          <p:nvPr/>
        </p:nvSpPr>
        <p:spPr>
          <a:xfrm>
            <a:off x="1444752" y="3035808"/>
            <a:ext cx="1051560" cy="274320"/>
          </a:xfrm>
          <a:prstGeom prst="rect">
            <a:avLst/>
          </a:prstGeom>
          <a:solidFill>
            <a:srgbClr val="0A1931"/>
          </a:solidFill>
          <a:ln w="6350">
            <a:solidFill>
              <a:srgbClr val="FFFFFF"/>
            </a:solidFill>
            <a:prstDash val="solid"/>
          </a:ln>
        </p:spPr>
      </p:sp>
      <p:sp>
        <p:nvSpPr>
          <p:cNvPr id="44" name="Text 42"/>
          <p:cNvSpPr/>
          <p:nvPr/>
        </p:nvSpPr>
        <p:spPr>
          <a:xfrm>
            <a:off x="1472184" y="3035808"/>
            <a:ext cx="9966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Applied To</a:t>
            </a:r>
            <a:endParaRPr lang="en-US" sz="950" dirty="0"/>
          </a:p>
        </p:txBody>
      </p:sp>
      <p:sp>
        <p:nvSpPr>
          <p:cNvPr id="45" name="Shape 43"/>
          <p:cNvSpPr/>
          <p:nvPr/>
        </p:nvSpPr>
        <p:spPr>
          <a:xfrm>
            <a:off x="2496312" y="3035808"/>
            <a:ext cx="1508760" cy="274320"/>
          </a:xfrm>
          <a:prstGeom prst="rect">
            <a:avLst/>
          </a:prstGeom>
          <a:solidFill>
            <a:srgbClr val="0A1931"/>
          </a:solidFill>
          <a:ln w="6350">
            <a:solidFill>
              <a:srgbClr val="FFFFFF"/>
            </a:solidFill>
            <a:prstDash val="solid"/>
          </a:ln>
        </p:spPr>
      </p:sp>
      <p:sp>
        <p:nvSpPr>
          <p:cNvPr id="46" name="Text 44"/>
          <p:cNvSpPr/>
          <p:nvPr/>
        </p:nvSpPr>
        <p:spPr>
          <a:xfrm>
            <a:off x="2523744" y="3035808"/>
            <a:ext cx="145389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How It Works</a:t>
            </a:r>
            <a:endParaRPr lang="en-US" sz="950" dirty="0"/>
          </a:p>
        </p:txBody>
      </p:sp>
      <p:sp>
        <p:nvSpPr>
          <p:cNvPr id="47" name="Shape 45"/>
          <p:cNvSpPr/>
          <p:nvPr/>
        </p:nvSpPr>
        <p:spPr>
          <a:xfrm>
            <a:off x="4005072" y="3035808"/>
            <a:ext cx="1097280" cy="274320"/>
          </a:xfrm>
          <a:prstGeom prst="rect">
            <a:avLst/>
          </a:prstGeom>
          <a:solidFill>
            <a:srgbClr val="0A1931"/>
          </a:solidFill>
          <a:ln w="6350">
            <a:solidFill>
              <a:srgbClr val="FFFFFF"/>
            </a:solidFill>
            <a:prstDash val="solid"/>
          </a:ln>
        </p:spPr>
      </p:sp>
      <p:sp>
        <p:nvSpPr>
          <p:cNvPr id="48" name="Text 46"/>
          <p:cNvSpPr/>
          <p:nvPr/>
        </p:nvSpPr>
        <p:spPr>
          <a:xfrm>
            <a:off x="4032504" y="3035808"/>
            <a:ext cx="1042416"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When To Use</a:t>
            </a:r>
            <a:endParaRPr lang="en-US" sz="950" dirty="0"/>
          </a:p>
        </p:txBody>
      </p:sp>
      <p:sp>
        <p:nvSpPr>
          <p:cNvPr id="49" name="Shape 47"/>
          <p:cNvSpPr/>
          <p:nvPr/>
        </p:nvSpPr>
        <p:spPr>
          <a:xfrm>
            <a:off x="164592" y="3310128"/>
            <a:ext cx="1280160" cy="475488"/>
          </a:xfrm>
          <a:prstGeom prst="rect">
            <a:avLst/>
          </a:prstGeom>
          <a:solidFill>
            <a:srgbClr val="F1F5F9"/>
          </a:solidFill>
          <a:ln w="6350">
            <a:solidFill>
              <a:srgbClr val="CBD5E1"/>
            </a:solidFill>
            <a:prstDash val="solid"/>
          </a:ln>
        </p:spPr>
      </p:sp>
      <p:sp>
        <p:nvSpPr>
          <p:cNvPr id="50" name="Shape 48"/>
          <p:cNvSpPr/>
          <p:nvPr/>
        </p:nvSpPr>
        <p:spPr>
          <a:xfrm>
            <a:off x="1444752" y="3310128"/>
            <a:ext cx="1051560" cy="475488"/>
          </a:xfrm>
          <a:prstGeom prst="rect">
            <a:avLst/>
          </a:prstGeom>
          <a:solidFill>
            <a:srgbClr val="F1F5F9"/>
          </a:solidFill>
          <a:ln w="6350">
            <a:solidFill>
              <a:srgbClr val="CBD5E1"/>
            </a:solidFill>
            <a:prstDash val="solid"/>
          </a:ln>
        </p:spPr>
      </p:sp>
      <p:sp>
        <p:nvSpPr>
          <p:cNvPr id="51" name="Shape 49"/>
          <p:cNvSpPr/>
          <p:nvPr/>
        </p:nvSpPr>
        <p:spPr>
          <a:xfrm>
            <a:off x="2496312" y="3310128"/>
            <a:ext cx="1508760" cy="475488"/>
          </a:xfrm>
          <a:prstGeom prst="rect">
            <a:avLst/>
          </a:prstGeom>
          <a:solidFill>
            <a:srgbClr val="F1F5F9"/>
          </a:solidFill>
          <a:ln w="6350">
            <a:solidFill>
              <a:srgbClr val="CBD5E1"/>
            </a:solidFill>
            <a:prstDash val="solid"/>
          </a:ln>
        </p:spPr>
      </p:sp>
      <p:sp>
        <p:nvSpPr>
          <p:cNvPr id="52" name="Shape 50"/>
          <p:cNvSpPr/>
          <p:nvPr/>
        </p:nvSpPr>
        <p:spPr>
          <a:xfrm>
            <a:off x="4005072" y="3310128"/>
            <a:ext cx="1097280" cy="475488"/>
          </a:xfrm>
          <a:prstGeom prst="rect">
            <a:avLst/>
          </a:prstGeom>
          <a:solidFill>
            <a:srgbClr val="F1F5F9"/>
          </a:solidFill>
          <a:ln w="6350">
            <a:solidFill>
              <a:srgbClr val="CBD5E1"/>
            </a:solidFill>
            <a:prstDash val="solid"/>
          </a:ln>
        </p:spPr>
      </p:sp>
      <p:sp>
        <p:nvSpPr>
          <p:cNvPr id="53" name="Text 51"/>
          <p:cNvSpPr/>
          <p:nvPr/>
        </p:nvSpPr>
        <p:spPr>
          <a:xfrm>
            <a:off x="210312" y="3310128"/>
            <a:ext cx="1188720" cy="47548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Label Encoding</a:t>
            </a:r>
            <a:endParaRPr lang="en-US" sz="900" dirty="0"/>
          </a:p>
        </p:txBody>
      </p:sp>
      <p:sp>
        <p:nvSpPr>
          <p:cNvPr id="54" name="Text 52"/>
          <p:cNvSpPr/>
          <p:nvPr/>
        </p:nvSpPr>
        <p:spPr>
          <a:xfrm>
            <a:off x="1490472" y="3310128"/>
            <a:ext cx="9601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Brand · Fuel_Type</a:t>
            </a:r>
            <a:endParaRPr lang="en-US" sz="900" dirty="0"/>
          </a:p>
        </p:txBody>
      </p:sp>
      <p:sp>
        <p:nvSpPr>
          <p:cNvPr id="55" name="Text 53"/>
          <p:cNvSpPr/>
          <p:nvPr/>
        </p:nvSpPr>
        <p:spPr>
          <a:xfrm>
            <a:off x="2542032" y="3310128"/>
            <a:ext cx="14173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Each category → unique integer (0, 1, 2…)</a:t>
            </a:r>
            <a:endParaRPr lang="en-US" sz="900" dirty="0"/>
          </a:p>
        </p:txBody>
      </p:sp>
      <p:sp>
        <p:nvSpPr>
          <p:cNvPr id="56" name="Text 54"/>
          <p:cNvSpPr/>
          <p:nvPr/>
        </p:nvSpPr>
        <p:spPr>
          <a:xfrm>
            <a:off x="4050792" y="3310128"/>
            <a:ext cx="100584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Ordinal data or tree-based ML</a:t>
            </a:r>
            <a:endParaRPr lang="en-US" sz="900" dirty="0"/>
          </a:p>
        </p:txBody>
      </p:sp>
      <p:sp>
        <p:nvSpPr>
          <p:cNvPr id="57" name="Shape 55"/>
          <p:cNvSpPr/>
          <p:nvPr/>
        </p:nvSpPr>
        <p:spPr>
          <a:xfrm>
            <a:off x="164592" y="3785616"/>
            <a:ext cx="1280160" cy="475488"/>
          </a:xfrm>
          <a:prstGeom prst="rect">
            <a:avLst/>
          </a:prstGeom>
          <a:solidFill>
            <a:srgbClr val="FFFFFF"/>
          </a:solidFill>
          <a:ln w="6350">
            <a:solidFill>
              <a:srgbClr val="CBD5E1"/>
            </a:solidFill>
            <a:prstDash val="solid"/>
          </a:ln>
        </p:spPr>
      </p:sp>
      <p:sp>
        <p:nvSpPr>
          <p:cNvPr id="58" name="Shape 56"/>
          <p:cNvSpPr/>
          <p:nvPr/>
        </p:nvSpPr>
        <p:spPr>
          <a:xfrm>
            <a:off x="1444752" y="3785616"/>
            <a:ext cx="1051560" cy="475488"/>
          </a:xfrm>
          <a:prstGeom prst="rect">
            <a:avLst/>
          </a:prstGeom>
          <a:solidFill>
            <a:srgbClr val="FFFFFF"/>
          </a:solidFill>
          <a:ln w="6350">
            <a:solidFill>
              <a:srgbClr val="CBD5E1"/>
            </a:solidFill>
            <a:prstDash val="solid"/>
          </a:ln>
        </p:spPr>
      </p:sp>
      <p:sp>
        <p:nvSpPr>
          <p:cNvPr id="59" name="Shape 57"/>
          <p:cNvSpPr/>
          <p:nvPr/>
        </p:nvSpPr>
        <p:spPr>
          <a:xfrm>
            <a:off x="2496312" y="3785616"/>
            <a:ext cx="1508760" cy="475488"/>
          </a:xfrm>
          <a:prstGeom prst="rect">
            <a:avLst/>
          </a:prstGeom>
          <a:solidFill>
            <a:srgbClr val="FFFFFF"/>
          </a:solidFill>
          <a:ln w="6350">
            <a:solidFill>
              <a:srgbClr val="CBD5E1"/>
            </a:solidFill>
            <a:prstDash val="solid"/>
          </a:ln>
        </p:spPr>
      </p:sp>
      <p:sp>
        <p:nvSpPr>
          <p:cNvPr id="60" name="Shape 58"/>
          <p:cNvSpPr/>
          <p:nvPr/>
        </p:nvSpPr>
        <p:spPr>
          <a:xfrm>
            <a:off x="4005072" y="3785616"/>
            <a:ext cx="1097280" cy="475488"/>
          </a:xfrm>
          <a:prstGeom prst="rect">
            <a:avLst/>
          </a:prstGeom>
          <a:solidFill>
            <a:srgbClr val="FFFFFF"/>
          </a:solidFill>
          <a:ln w="6350">
            <a:solidFill>
              <a:srgbClr val="CBD5E1"/>
            </a:solidFill>
            <a:prstDash val="solid"/>
          </a:ln>
        </p:spPr>
      </p:sp>
      <p:sp>
        <p:nvSpPr>
          <p:cNvPr id="61" name="Text 59"/>
          <p:cNvSpPr/>
          <p:nvPr/>
        </p:nvSpPr>
        <p:spPr>
          <a:xfrm>
            <a:off x="210312" y="3785616"/>
            <a:ext cx="1188720" cy="47548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One-Hot Encoding</a:t>
            </a:r>
            <a:endParaRPr lang="en-US" sz="900" dirty="0"/>
          </a:p>
        </p:txBody>
      </p:sp>
      <p:sp>
        <p:nvSpPr>
          <p:cNvPr id="62" name="Text 60"/>
          <p:cNvSpPr/>
          <p:nvPr/>
        </p:nvSpPr>
        <p:spPr>
          <a:xfrm>
            <a:off x="1490472" y="3785616"/>
            <a:ext cx="9601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Segment</a:t>
            </a:r>
            <a:endParaRPr lang="en-US" sz="900" dirty="0"/>
          </a:p>
        </p:txBody>
      </p:sp>
      <p:sp>
        <p:nvSpPr>
          <p:cNvPr id="63" name="Text 61"/>
          <p:cNvSpPr/>
          <p:nvPr/>
        </p:nvSpPr>
        <p:spPr>
          <a:xfrm>
            <a:off x="2542032" y="3785616"/>
            <a:ext cx="14173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Each category → separate binary column (0/1)</a:t>
            </a:r>
            <a:endParaRPr lang="en-US" sz="900" dirty="0"/>
          </a:p>
        </p:txBody>
      </p:sp>
      <p:sp>
        <p:nvSpPr>
          <p:cNvPr id="64" name="Text 62"/>
          <p:cNvSpPr/>
          <p:nvPr/>
        </p:nvSpPr>
        <p:spPr>
          <a:xfrm>
            <a:off x="4050792" y="3785616"/>
            <a:ext cx="100584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Nominal data for linear models</a:t>
            </a:r>
            <a:endParaRPr lang="en-US" sz="900" dirty="0"/>
          </a:p>
        </p:txBody>
      </p:sp>
      <p:sp>
        <p:nvSpPr>
          <p:cNvPr id="65" name="Shape 63"/>
          <p:cNvSpPr/>
          <p:nvPr/>
        </p:nvSpPr>
        <p:spPr>
          <a:xfrm>
            <a:off x="164592" y="4261104"/>
            <a:ext cx="1280160" cy="475488"/>
          </a:xfrm>
          <a:prstGeom prst="rect">
            <a:avLst/>
          </a:prstGeom>
          <a:solidFill>
            <a:srgbClr val="F1F5F9"/>
          </a:solidFill>
          <a:ln w="6350">
            <a:solidFill>
              <a:srgbClr val="CBD5E1"/>
            </a:solidFill>
            <a:prstDash val="solid"/>
          </a:ln>
        </p:spPr>
      </p:sp>
      <p:sp>
        <p:nvSpPr>
          <p:cNvPr id="66" name="Shape 64"/>
          <p:cNvSpPr/>
          <p:nvPr/>
        </p:nvSpPr>
        <p:spPr>
          <a:xfrm>
            <a:off x="1444752" y="4261104"/>
            <a:ext cx="1051560" cy="475488"/>
          </a:xfrm>
          <a:prstGeom prst="rect">
            <a:avLst/>
          </a:prstGeom>
          <a:solidFill>
            <a:srgbClr val="F1F5F9"/>
          </a:solidFill>
          <a:ln w="6350">
            <a:solidFill>
              <a:srgbClr val="CBD5E1"/>
            </a:solidFill>
            <a:prstDash val="solid"/>
          </a:ln>
        </p:spPr>
      </p:sp>
      <p:sp>
        <p:nvSpPr>
          <p:cNvPr id="67" name="Shape 65"/>
          <p:cNvSpPr/>
          <p:nvPr/>
        </p:nvSpPr>
        <p:spPr>
          <a:xfrm>
            <a:off x="2496312" y="4261104"/>
            <a:ext cx="1508760" cy="475488"/>
          </a:xfrm>
          <a:prstGeom prst="rect">
            <a:avLst/>
          </a:prstGeom>
          <a:solidFill>
            <a:srgbClr val="F1F5F9"/>
          </a:solidFill>
          <a:ln w="6350">
            <a:solidFill>
              <a:srgbClr val="CBD5E1"/>
            </a:solidFill>
            <a:prstDash val="solid"/>
          </a:ln>
        </p:spPr>
      </p:sp>
      <p:sp>
        <p:nvSpPr>
          <p:cNvPr id="68" name="Shape 66"/>
          <p:cNvSpPr/>
          <p:nvPr/>
        </p:nvSpPr>
        <p:spPr>
          <a:xfrm>
            <a:off x="4005072" y="4261104"/>
            <a:ext cx="1097280" cy="475488"/>
          </a:xfrm>
          <a:prstGeom prst="rect">
            <a:avLst/>
          </a:prstGeom>
          <a:solidFill>
            <a:srgbClr val="F1F5F9"/>
          </a:solidFill>
          <a:ln w="6350">
            <a:solidFill>
              <a:srgbClr val="CBD5E1"/>
            </a:solidFill>
            <a:prstDash val="solid"/>
          </a:ln>
        </p:spPr>
      </p:sp>
      <p:sp>
        <p:nvSpPr>
          <p:cNvPr id="69" name="Text 67"/>
          <p:cNvSpPr/>
          <p:nvPr/>
        </p:nvSpPr>
        <p:spPr>
          <a:xfrm>
            <a:off x="210312" y="4261104"/>
            <a:ext cx="1188720" cy="475488"/>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Dummy Encoding</a:t>
            </a:r>
            <a:endParaRPr lang="en-US" sz="900" dirty="0"/>
          </a:p>
        </p:txBody>
      </p:sp>
      <p:sp>
        <p:nvSpPr>
          <p:cNvPr id="70" name="Text 68"/>
          <p:cNvSpPr/>
          <p:nvPr/>
        </p:nvSpPr>
        <p:spPr>
          <a:xfrm>
            <a:off x="1490472" y="4261104"/>
            <a:ext cx="9601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Transmission</a:t>
            </a:r>
            <a:endParaRPr lang="en-US" sz="900" dirty="0"/>
          </a:p>
        </p:txBody>
      </p:sp>
      <p:sp>
        <p:nvSpPr>
          <p:cNvPr id="71" name="Text 69"/>
          <p:cNvSpPr/>
          <p:nvPr/>
        </p:nvSpPr>
        <p:spPr>
          <a:xfrm>
            <a:off x="2542032" y="4261104"/>
            <a:ext cx="141732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One-Hot but drops first column to avoid redundancy</a:t>
            </a:r>
            <a:endParaRPr lang="en-US" sz="900" dirty="0"/>
          </a:p>
        </p:txBody>
      </p:sp>
      <p:sp>
        <p:nvSpPr>
          <p:cNvPr id="72" name="Text 70"/>
          <p:cNvSpPr/>
          <p:nvPr/>
        </p:nvSpPr>
        <p:spPr>
          <a:xfrm>
            <a:off x="4050792" y="4261104"/>
            <a:ext cx="1005840" cy="475488"/>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Avoiding multicollinearity</a:t>
            </a:r>
            <a:endParaRPr lang="en-US" sz="900" dirty="0"/>
          </a:p>
        </p:txBody>
      </p:sp>
      <p:pic>
        <p:nvPicPr>
          <p:cNvPr id="3074" name="Picture 2" descr="Data Binning - What Is It, Examples, Techniques, Advant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977" y="1271969"/>
            <a:ext cx="3286046" cy="1677066"/>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3078" name="Picture 6" descr="Encoding Categorical Variables: One-hot vs Dummy Encoding | Towards Data  Scien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7625" y="3480340"/>
            <a:ext cx="3251398" cy="1328528"/>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0"/>
            <a:ext cx="9144001" cy="5143500"/>
          </a:xfrm>
          <a:prstGeom prst="rect">
            <a:avLst/>
          </a:prstGeom>
          <a:blipFill dpi="0" rotWithShape="1">
            <a:blip r:embed="rId2">
              <a:alphaModFix amt="66000"/>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74674" y="2110085"/>
            <a:ext cx="4036747" cy="923330"/>
          </a:xfrm>
          <a:prstGeom prst="rect">
            <a:avLst/>
          </a:prstGeom>
          <a:noFill/>
        </p:spPr>
        <p:txBody>
          <a:bodyPr wrap="none" lIns="91440" tIns="45720" rIns="91440" bIns="45720">
            <a:spAutoFit/>
          </a:bodyPr>
          <a:lstStyle/>
          <a:p>
            <a:pPr algn="ctr"/>
            <a:r>
              <a:rPr lang="en-US" sz="5400" b="1" cap="none" spc="0" dirty="0" smtClean="0">
                <a:ln w="0"/>
                <a:solidFill>
                  <a:schemeClr val="tx1"/>
                </a:solidFill>
                <a:effectLst>
                  <a:outerShdw blurRad="38100" dist="19050" dir="2700000" algn="tl" rotWithShape="0">
                    <a:schemeClr val="dk1">
                      <a:alpha val="40000"/>
                    </a:schemeClr>
                  </a:outerShdw>
                </a:effectLst>
              </a:rPr>
              <a:t>Data Analysis</a:t>
            </a:r>
            <a:endParaRPr lang="en-US" sz="54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4294876"/>
      </p:ext>
    </p:extLst>
  </p:cSld>
  <p:clrMapOvr>
    <a:masterClrMapping/>
  </p:clrMapOvr>
  <p:transition spd="slow">
    <p:comb/>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1: Boxplots by Brand — Spread &amp; Outliers</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Box Plot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Units_Sold · Ex_Showroom_Price_Lakh · Mileage_KMPL</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distribution, median, quartiles, and outliers for Units Sold, Price (Lakh), and Mileage (KMPL) across all three brands.</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Reveals Maruti's dominant sales volume, Mahindra's premium pricing spread, and Hyundai's mileage consistency. Helps spot data quality issues and outliers before ML.</a:t>
            </a:r>
            <a:endParaRPr lang="en-US" sz="1150" dirty="0"/>
          </a:p>
        </p:txBody>
      </p:sp>
      <p:pic>
        <p:nvPicPr>
          <p:cNvPr id="18" name="Picture 17"/>
          <p:cNvPicPr>
            <a:picLocks noChangeAspect="1"/>
          </p:cNvPicPr>
          <p:nvPr/>
        </p:nvPicPr>
        <p:blipFill>
          <a:blip r:embed="rId3"/>
          <a:stretch>
            <a:fillRect/>
          </a:stretch>
        </p:blipFill>
        <p:spPr>
          <a:xfrm>
            <a:off x="5383735" y="1481328"/>
            <a:ext cx="3289486" cy="122142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622171" y="2888559"/>
            <a:ext cx="2812614" cy="9233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p>
            <a:pPr algn="ctr"/>
            <a:r>
              <a:rPr lang="en-US" sz="5400" b="1" cap="none" spc="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Boxplot</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0" name="Rectangle 19"/>
          <p:cNvSpPr/>
          <p:nvPr/>
        </p:nvSpPr>
        <p:spPr>
          <a:xfrm>
            <a:off x="798187" y="4002278"/>
            <a:ext cx="7636598" cy="92333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en-US" dirty="0"/>
              <a:t>A </a:t>
            </a:r>
            <a:r>
              <a:rPr lang="en-US" b="1" dirty="0"/>
              <a:t>box plot</a:t>
            </a:r>
            <a:r>
              <a:rPr lang="en-US" dirty="0"/>
              <a:t> (also called a </a:t>
            </a:r>
            <a:r>
              <a:rPr lang="en-US" b="1" dirty="0"/>
              <a:t>whisker plot</a:t>
            </a:r>
            <a:r>
              <a:rPr lang="en-US" dirty="0"/>
              <a:t>) is a graph that displays the dataset’s quartiles and median, with "whiskers" extending to show variability outside the upper and lower quartiles, and dots for outliers.</a:t>
            </a:r>
          </a:p>
        </p:txBody>
      </p:sp>
    </p:spTree>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2: Correlation Heatmap</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Heatmap</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Price · Units Sold · Revenue · Mileage · Customer Rating · Service Cost</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Displays Pearson correlation coefficients between all numerical variables using a color-coded matrix (blue = negative, red = positive).</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Identifies multicollinearity, guides feature selection for ML, and confirms that Revenue and Units_Sold are strongly linked while Price and Mileage are inversely related.</a:t>
            </a:r>
            <a:endParaRPr lang="en-US" sz="1150" dirty="0"/>
          </a:p>
        </p:txBody>
      </p:sp>
      <p:pic>
        <p:nvPicPr>
          <p:cNvPr id="20" name="Picture 19"/>
          <p:cNvPicPr>
            <a:picLocks noChangeAspect="1"/>
          </p:cNvPicPr>
          <p:nvPr/>
        </p:nvPicPr>
        <p:blipFill>
          <a:blip r:embed="rId3"/>
          <a:stretch>
            <a:fillRect/>
          </a:stretch>
        </p:blipFill>
        <p:spPr>
          <a:xfrm>
            <a:off x="5370245" y="1481329"/>
            <a:ext cx="3192000" cy="169643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1" name="Rectangle 20"/>
          <p:cNvSpPr/>
          <p:nvPr/>
        </p:nvSpPr>
        <p:spPr>
          <a:xfrm>
            <a:off x="201168" y="4056292"/>
            <a:ext cx="9122770" cy="830997"/>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US" sz="1600" dirty="0"/>
              <a:t>A correlation </a:t>
            </a:r>
            <a:r>
              <a:rPr lang="en-US" sz="1600" dirty="0" err="1" smtClean="0"/>
              <a:t>Heatmap</a:t>
            </a:r>
            <a:r>
              <a:rPr lang="en-US" sz="1600" dirty="0" smtClean="0"/>
              <a:t> </a:t>
            </a:r>
            <a:r>
              <a:rPr lang="en-US" sz="1600" dirty="0"/>
              <a:t>is a visual tool that shows how strongly variables are related to each other. It uses a matrix of correlation coefficients (values between -1 and +1) and represents them with colors, making it easy to spot patterns, positive/negative relationships, and clusters of highly correlated features.</a:t>
            </a:r>
          </a:p>
        </p:txBody>
      </p:sp>
      <p:sp>
        <p:nvSpPr>
          <p:cNvPr id="22" name="Rectangle 21"/>
          <p:cNvSpPr/>
          <p:nvPr/>
        </p:nvSpPr>
        <p:spPr>
          <a:xfrm>
            <a:off x="5564108" y="3356980"/>
            <a:ext cx="2933354" cy="523220"/>
          </a:xfrm>
          <a:prstGeom prst="rect">
            <a:avLst/>
          </a:prstGeom>
        </p:spPr>
        <p:style>
          <a:lnRef idx="1">
            <a:schemeClr val="accent1"/>
          </a:lnRef>
          <a:fillRef idx="3">
            <a:schemeClr val="accent1"/>
          </a:fillRef>
          <a:effectRef idx="2">
            <a:schemeClr val="accent1"/>
          </a:effectRef>
          <a:fontRef idx="minor">
            <a:schemeClr val="lt1"/>
          </a:fontRef>
        </p:style>
        <p:txBody>
          <a:bodyPr wrap="square" lIns="91440" tIns="45720" rIns="91440" bIns="45720">
            <a:spAutoFit/>
          </a:bodyPr>
          <a:lstStyle/>
          <a:p>
            <a:pPr algn="ctr"/>
            <a:r>
              <a:rPr lang="en-US" sz="2800" b="1" dirty="0" err="1" smtClean="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Heatmap</a:t>
            </a:r>
            <a:endParaRPr lang="en-US" sz="2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3: Units Sold by Segment and Brand — Grouped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Grouped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Brand · Segment · Units_Sold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Compares total units sold across vehicle segments (Budget, Mid, Premium, Luxury) for each brand side-by-side.</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Maruti dominates the Budget/Mid segment while Mahindra leads in SUVs/Premium. Guides brand-specific marketing strategies.</a:t>
            </a:r>
            <a:endParaRPr lang="en-US" sz="1150" dirty="0"/>
          </a:p>
        </p:txBody>
      </p:sp>
      <p:pic>
        <p:nvPicPr>
          <p:cNvPr id="18" name="Picture 17"/>
          <p:cNvPicPr>
            <a:picLocks noChangeAspect="1"/>
          </p:cNvPicPr>
          <p:nvPr/>
        </p:nvPicPr>
        <p:blipFill>
          <a:blip r:embed="rId3"/>
          <a:stretch>
            <a:fillRect/>
          </a:stretch>
        </p:blipFill>
        <p:spPr>
          <a:xfrm>
            <a:off x="5440042" y="1481328"/>
            <a:ext cx="3429638" cy="145052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0" name="Rectangle 19"/>
          <p:cNvSpPr/>
          <p:nvPr/>
        </p:nvSpPr>
        <p:spPr>
          <a:xfrm>
            <a:off x="201168" y="4056292"/>
            <a:ext cx="9122770" cy="830997"/>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en-US" sz="1600" dirty="0"/>
              <a:t>A </a:t>
            </a:r>
            <a:r>
              <a:rPr lang="en-US" sz="1600" b="1" dirty="0"/>
              <a:t>grouped bar chart</a:t>
            </a:r>
            <a:r>
              <a:rPr lang="en-US" sz="1600" dirty="0"/>
              <a:t> is a visualization that displays </a:t>
            </a:r>
            <a:r>
              <a:rPr lang="en-US" sz="1600" b="1" dirty="0"/>
              <a:t>multiple categories side by side</a:t>
            </a:r>
            <a:r>
              <a:rPr lang="en-US" sz="1600" dirty="0"/>
              <a:t> for comparison across different groups. Instead of stacking values, it places bars for each subgroup next to each other, making it easy to compare them within and across categories.</a:t>
            </a:r>
          </a:p>
        </p:txBody>
      </p:sp>
      <p:sp>
        <p:nvSpPr>
          <p:cNvPr id="21" name="Rectangle 20"/>
          <p:cNvSpPr/>
          <p:nvPr/>
        </p:nvSpPr>
        <p:spPr>
          <a:xfrm>
            <a:off x="5564108" y="3167312"/>
            <a:ext cx="2933354" cy="523220"/>
          </a:xfrm>
          <a:prstGeom prst="rect">
            <a:avLst/>
          </a:prstGeom>
        </p:spPr>
        <p:style>
          <a:lnRef idx="0">
            <a:schemeClr val="accent2"/>
          </a:lnRef>
          <a:fillRef idx="3">
            <a:schemeClr val="accent2"/>
          </a:fillRef>
          <a:effectRef idx="3">
            <a:schemeClr val="accent2"/>
          </a:effectRef>
          <a:fontRef idx="minor">
            <a:schemeClr val="lt1"/>
          </a:fontRef>
        </p:style>
        <p:txBody>
          <a:bodyPr wrap="square" lIns="91440" tIns="45720" rIns="91440" bIns="45720">
            <a:spAutoFit/>
          </a:bodyPr>
          <a:lstStyle/>
          <a:p>
            <a:pPr algn="ctr"/>
            <a:r>
              <a:rPr lang="en-US" sz="2800" dirty="0" smtClean="0">
                <a:ln w="0"/>
                <a:solidFill>
                  <a:schemeClr val="tx1"/>
                </a:solidFill>
                <a:effectLst>
                  <a:outerShdw blurRad="38100" dist="19050" dir="2700000" algn="tl" rotWithShape="0">
                    <a:schemeClr val="dk1">
                      <a:alpha val="40000"/>
                    </a:schemeClr>
                  </a:outerShdw>
                </a:effectLst>
              </a:rPr>
              <a:t>Grouped Bar Chart</a:t>
            </a:r>
            <a:endParaRPr lang="en-US" sz="280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4: Monthly Sales Trend by Brand — Line Chart</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Line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Month · Brand · Units_Sold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Tracks units sold per month from 2020–2024 for all three brands on a single time-series plot.</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Reveals seasonality patterns, pandemic impact (2020 dip), and post-recovery growth trajectories. Supports time-based ML feature engineering.</a:t>
            </a:r>
            <a:endParaRPr lang="en-US" sz="1150" dirty="0"/>
          </a:p>
        </p:txBody>
      </p:sp>
      <p:pic>
        <p:nvPicPr>
          <p:cNvPr id="18" name="Picture 17"/>
          <p:cNvPicPr>
            <a:picLocks noChangeAspect="1"/>
          </p:cNvPicPr>
          <p:nvPr/>
        </p:nvPicPr>
        <p:blipFill>
          <a:blip r:embed="rId3"/>
          <a:stretch>
            <a:fillRect/>
          </a:stretch>
        </p:blipFill>
        <p:spPr>
          <a:xfrm>
            <a:off x="5440680" y="1353473"/>
            <a:ext cx="3177768" cy="145373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3" name="Rectangle 22"/>
          <p:cNvSpPr/>
          <p:nvPr/>
        </p:nvSpPr>
        <p:spPr>
          <a:xfrm>
            <a:off x="5440680" y="3106948"/>
            <a:ext cx="2933354"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lIns="91440" tIns="45720" rIns="91440" bIns="45720">
            <a:spAutoFit/>
          </a:bodyPr>
          <a:lstStyle/>
          <a:p>
            <a:pPr algn="ctr"/>
            <a:r>
              <a:rPr lang="en-US" sz="2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Line Chart</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4" name="Rectangle 23"/>
          <p:cNvSpPr/>
          <p:nvPr/>
        </p:nvSpPr>
        <p:spPr>
          <a:xfrm>
            <a:off x="201168" y="4183040"/>
            <a:ext cx="8668512"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600" dirty="0"/>
              <a:t>A </a:t>
            </a:r>
            <a:r>
              <a:rPr lang="en-US" sz="1600" b="1" dirty="0"/>
              <a:t>line chart</a:t>
            </a:r>
            <a:r>
              <a:rPr lang="en-US" sz="1600" dirty="0"/>
              <a:t> is a visualization that shows how values change over a continuous variable, usually </a:t>
            </a:r>
            <a:r>
              <a:rPr lang="en-US" sz="1600" b="1" dirty="0"/>
              <a:t>time</a:t>
            </a:r>
            <a:r>
              <a:rPr lang="en-US" sz="1600" dirty="0"/>
              <a:t>. It connects data points with straight lines, making trends, patterns, and fluctuations easy to see.</a:t>
            </a:r>
          </a:p>
        </p:txBody>
      </p:sp>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5: Annual Revenue by Brand — Grouped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Grouped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Year · Brand · Revenue_Crores</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total revenue (in Crores) generated by each brand for every year from 2020 to 2024.</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Quantifies year-over-year financial growth, highlights Hyundai's rapid revenue rise, and provides macro context for predicting future performance.</a:t>
            </a:r>
            <a:endParaRPr lang="en-US" sz="1150" dirty="0"/>
          </a:p>
        </p:txBody>
      </p:sp>
      <p:pic>
        <p:nvPicPr>
          <p:cNvPr id="18" name="Picture 17"/>
          <p:cNvPicPr>
            <a:picLocks noChangeAspect="1"/>
          </p:cNvPicPr>
          <p:nvPr/>
        </p:nvPicPr>
        <p:blipFill>
          <a:blip r:embed="rId3"/>
          <a:stretch>
            <a:fillRect/>
          </a:stretch>
        </p:blipFill>
        <p:spPr>
          <a:xfrm>
            <a:off x="5382148" y="1450818"/>
            <a:ext cx="3487532" cy="159517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540721" y="3284916"/>
            <a:ext cx="3051870" cy="523220"/>
          </a:xfrm>
          <a:prstGeom prst="rect">
            <a:avLst/>
          </a:prstGeom>
        </p:spPr>
        <p:style>
          <a:lnRef idx="3">
            <a:schemeClr val="lt1"/>
          </a:lnRef>
          <a:fillRef idx="1">
            <a:schemeClr val="dk1"/>
          </a:fillRef>
          <a:effectRef idx="1">
            <a:schemeClr val="dk1"/>
          </a:effectRef>
          <a:fontRef idx="minor">
            <a:schemeClr val="lt1"/>
          </a:fontRef>
        </p:style>
        <p:txBody>
          <a:bodyPr wrap="square" lIns="91440" tIns="45720" rIns="91440" bIns="45720">
            <a:spAutoFit/>
          </a:bodyPr>
          <a:lstStyle/>
          <a:p>
            <a:pPr algn="ctr"/>
            <a:r>
              <a:rPr lang="en-US" sz="2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Grouped Bar Chart</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0" name="Rectangle 19"/>
          <p:cNvSpPr/>
          <p:nvPr/>
        </p:nvSpPr>
        <p:spPr>
          <a:xfrm>
            <a:off x="201168" y="4183040"/>
            <a:ext cx="8668512"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600" b="1" dirty="0" smtClean="0"/>
              <a:t>Grouped Bar Chart </a:t>
            </a:r>
            <a:r>
              <a:rPr lang="en-US" sz="1600" dirty="0"/>
              <a:t>→ </a:t>
            </a:r>
            <a:r>
              <a:rPr lang="en-US" sz="1600" dirty="0" smtClean="0"/>
              <a:t> </a:t>
            </a:r>
            <a:r>
              <a:rPr lang="en-US" sz="1600" b="1" dirty="0" smtClean="0"/>
              <a:t>Best </a:t>
            </a:r>
            <a:r>
              <a:rPr lang="en-US" sz="1600" b="1" dirty="0"/>
              <a:t>used when categories share the same scale</a:t>
            </a:r>
            <a:r>
              <a:rPr lang="en-US" sz="1600" dirty="0"/>
              <a:t> → Ensures fair comparison across groups.</a:t>
            </a:r>
          </a:p>
        </p:txBody>
      </p:sp>
    </p:spTree>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6: Fuel Type Mix Over Years — Stacked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Stacked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Year · Fuel_Type · Units_Sold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the proportion of units sold per fuel type (Petrol, Diesel, CNG, Electric) stacked for each year.</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Captures the EV and CNG adoption trend over time. Critical for market shift analysis and predicting future demand patterns in ML models.</a:t>
            </a:r>
            <a:endParaRPr lang="en-US" sz="1150" dirty="0"/>
          </a:p>
        </p:txBody>
      </p:sp>
      <p:pic>
        <p:nvPicPr>
          <p:cNvPr id="18" name="Picture 17"/>
          <p:cNvPicPr>
            <a:picLocks noChangeAspect="1"/>
          </p:cNvPicPr>
          <p:nvPr/>
        </p:nvPicPr>
        <p:blipFill>
          <a:blip r:embed="rId3"/>
          <a:stretch>
            <a:fillRect/>
          </a:stretch>
        </p:blipFill>
        <p:spPr>
          <a:xfrm>
            <a:off x="5339670" y="1374706"/>
            <a:ext cx="3451245" cy="164081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564108" y="3356980"/>
            <a:ext cx="2933354" cy="52322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lIns="91440" tIns="45720" rIns="91440" bIns="45720">
            <a:spAutoFit/>
          </a:bodyPr>
          <a:lstStyle/>
          <a:p>
            <a:pPr algn="ctr"/>
            <a:r>
              <a:rPr lang="en-US" sz="2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Stacked bar Chart</a:t>
            </a:r>
            <a:endParaRPr lang="en-US"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0" name="Rectangle 19"/>
          <p:cNvSpPr/>
          <p:nvPr/>
        </p:nvSpPr>
        <p:spPr>
          <a:xfrm>
            <a:off x="201168" y="4183040"/>
            <a:ext cx="8668512" cy="8309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600" dirty="0"/>
              <a:t>A </a:t>
            </a:r>
            <a:r>
              <a:rPr lang="en-US" sz="1600" b="1" dirty="0"/>
              <a:t>stacked bar chart</a:t>
            </a:r>
            <a:r>
              <a:rPr lang="en-US" sz="1600" dirty="0"/>
              <a:t> (also called a segmented bar chart) is a bar chart where each bar is divided into segments representing subcategories. The full bar length shows the total value for the main category, while the segments illustrate the contribution of each subgroup.</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7: Mileage vs Service Cost — Bubble Chart</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Bubble / Scatter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Mileage_KMPL · Annual_Service_Cost_INR · Units_Sold (size)</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Plots Mileage (KMPL) on X-axis vs Annual Service Cost on Y-axis; bubble size represents units sold per brand.</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Identifies the cost-efficiency frontier — high mileage + low service cost cars sell best. Helps position ML prediction around consumer value preferences.</a:t>
            </a:r>
            <a:endParaRPr lang="en-US" sz="1150" dirty="0"/>
          </a:p>
        </p:txBody>
      </p:sp>
      <p:pic>
        <p:nvPicPr>
          <p:cNvPr id="18" name="Picture 17"/>
          <p:cNvPicPr>
            <a:picLocks noChangeAspect="1"/>
          </p:cNvPicPr>
          <p:nvPr/>
        </p:nvPicPr>
        <p:blipFill>
          <a:blip r:embed="rId3"/>
          <a:stretch>
            <a:fillRect/>
          </a:stretch>
        </p:blipFill>
        <p:spPr>
          <a:xfrm>
            <a:off x="5440680" y="1481328"/>
            <a:ext cx="3255988" cy="1604202"/>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601997" y="3299012"/>
            <a:ext cx="2933354"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lIns="91440" tIns="45720" rIns="91440" bIns="45720">
            <a:spAutoFit/>
          </a:bodyPr>
          <a:lstStyle/>
          <a:p>
            <a:pPr algn="ctr"/>
            <a:r>
              <a:rPr lang="en-US" sz="2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Bubble Chart</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0" name="Rectangle 19"/>
          <p:cNvSpPr/>
          <p:nvPr/>
        </p:nvSpPr>
        <p:spPr>
          <a:xfrm>
            <a:off x="292608" y="3968576"/>
            <a:ext cx="8668512" cy="101566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r>
              <a:rPr lang="en-US" sz="1500" b="1" dirty="0"/>
              <a:t>A bubble chart is a variation of a scatter plot that visualizes relationships between three numeric variables, where the x-axis and y-axis represent two variables, and the bubble size represents the third.</a:t>
            </a:r>
            <a:r>
              <a:rPr lang="en-US" sz="1500" dirty="0"/>
              <a:t> It’s widely used in economics, social sciences, and competitive analysis to show patterns and correlations in multidimensional data</a:t>
            </a: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182880" y="109728"/>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8: Transmission Type Distribution by Brand — Stacked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Stacked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Brand · Transmission · Units_Sold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units sold split by Manual vs Automatic transmission for each brand.</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Reveals brand transmission preferences — Hyundai skews automatic, Maruti skews manual. Used as an encoded categorical feature in ML.</a:t>
            </a:r>
            <a:endParaRPr lang="en-US" sz="1150" dirty="0"/>
          </a:p>
        </p:txBody>
      </p:sp>
      <p:pic>
        <p:nvPicPr>
          <p:cNvPr id="18" name="Picture 17"/>
          <p:cNvPicPr>
            <a:picLocks noChangeAspect="1"/>
          </p:cNvPicPr>
          <p:nvPr/>
        </p:nvPicPr>
        <p:blipFill>
          <a:blip r:embed="rId3"/>
          <a:stretch>
            <a:fillRect/>
          </a:stretch>
        </p:blipFill>
        <p:spPr>
          <a:xfrm>
            <a:off x="5410894" y="1364720"/>
            <a:ext cx="3307593" cy="1825946"/>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598013" y="3414278"/>
            <a:ext cx="2933354"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lIns="91440" tIns="45720" rIns="91440" bIns="45720">
            <a:spAutoFit/>
          </a:bodyPr>
          <a:lstStyle/>
          <a:p>
            <a:pPr algn="ctr"/>
            <a:r>
              <a:rPr lang="en-US" sz="2800" b="1" dirty="0" smtClean="0">
                <a:ln w="6600">
                  <a:solidFill>
                    <a:schemeClr val="accent2"/>
                  </a:solidFill>
                  <a:prstDash val="solid"/>
                </a:ln>
                <a:solidFill>
                  <a:srgbClr val="FFFFFF"/>
                </a:solidFill>
                <a:effectLst>
                  <a:outerShdw dist="38100" dir="2700000" algn="tl" rotWithShape="0">
                    <a:schemeClr val="accent2"/>
                  </a:outerShdw>
                </a:effectLst>
              </a:rPr>
              <a:t>Stacked bar Chart</a:t>
            </a:r>
            <a:endParaRPr lang="en-US" sz="28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20" name="Rectangle 19"/>
          <p:cNvSpPr/>
          <p:nvPr/>
        </p:nvSpPr>
        <p:spPr>
          <a:xfrm>
            <a:off x="292608" y="4260963"/>
            <a:ext cx="8668512" cy="58477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1600" b="1" dirty="0" smtClean="0"/>
              <a:t>Stacked Bar Chart </a:t>
            </a:r>
            <a:r>
              <a:rPr lang="en-US" sz="1600" dirty="0"/>
              <a:t>→ </a:t>
            </a:r>
            <a:r>
              <a:rPr lang="en-US" sz="1600" b="1" dirty="0" smtClean="0"/>
              <a:t>Variants </a:t>
            </a:r>
            <a:r>
              <a:rPr lang="en-US" sz="1600" b="1" dirty="0"/>
              <a:t>exist</a:t>
            </a:r>
            <a:r>
              <a:rPr lang="en-US" sz="1600" dirty="0"/>
              <a:t> → A </a:t>
            </a:r>
            <a:r>
              <a:rPr lang="en-US" sz="1600" b="1" dirty="0"/>
              <a:t>100% stacked bar chart</a:t>
            </a:r>
            <a:r>
              <a:rPr lang="en-US" sz="1600" dirty="0"/>
              <a:t> normalizes all bars to the same height, showing proportions instead of raw values.</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9: Safety Rating Distribution by Brand — Grouped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Grouped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Brand · Safety_Rating_Stars · Count</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Counts how many car models per brand fall under each safety star rating (1–5 stars).</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Mahindra and Hyundai lead in 4–5 star safety cars. Safety rating is an important discrete feature in the ML prediction model.</a:t>
            </a:r>
            <a:endParaRPr lang="en-US" sz="1150" dirty="0"/>
          </a:p>
        </p:txBody>
      </p:sp>
      <p:pic>
        <p:nvPicPr>
          <p:cNvPr id="18" name="Picture 17"/>
          <p:cNvPicPr>
            <a:picLocks noChangeAspect="1"/>
          </p:cNvPicPr>
          <p:nvPr/>
        </p:nvPicPr>
        <p:blipFill>
          <a:blip r:embed="rId3"/>
          <a:stretch>
            <a:fillRect/>
          </a:stretch>
        </p:blipFill>
        <p:spPr>
          <a:xfrm>
            <a:off x="5365626" y="1428101"/>
            <a:ext cx="3289486" cy="1504969"/>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425506" y="3218688"/>
            <a:ext cx="3169725"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lIns="91440" tIns="45720" rIns="91440" bIns="45720">
            <a:spAutoFit/>
          </a:bodyPr>
          <a:lstStyle/>
          <a:p>
            <a:pPr algn="ctr"/>
            <a:r>
              <a:rPr lang="en-US" sz="28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Grouped bar Chart</a:t>
            </a:r>
            <a:endParaRPr lang="en-US" sz="28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22" name="Rectangle 21"/>
          <p:cNvSpPr/>
          <p:nvPr/>
        </p:nvSpPr>
        <p:spPr>
          <a:xfrm>
            <a:off x="201168" y="4183040"/>
            <a:ext cx="8668512" cy="58477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1600" b="1" dirty="0" smtClean="0"/>
              <a:t>Grouped Bar Chart </a:t>
            </a:r>
            <a:r>
              <a:rPr lang="en-US" sz="1600" dirty="0"/>
              <a:t>→ </a:t>
            </a:r>
            <a:r>
              <a:rPr lang="en-US" sz="1600" dirty="0" smtClean="0"/>
              <a:t> </a:t>
            </a:r>
            <a:r>
              <a:rPr lang="en-US" sz="1600" b="1" dirty="0"/>
              <a:t>Scalability</a:t>
            </a:r>
            <a:r>
              <a:rPr lang="en-US" sz="1600" dirty="0"/>
              <a:t> → Works well when the number of subgroups is small; too many can clutter the chart.</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Graph 10: Price Band vs Avg Customer Rating — Grouped Bar</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645920" cy="292608"/>
          </a:xfrm>
          <a:prstGeom prst="rect">
            <a:avLst/>
          </a:prstGeom>
          <a:solidFill>
            <a:srgbClr val="0E6BA8"/>
          </a:solidFill>
          <a:ln w="12700">
            <a:solidFill>
              <a:srgbClr val="0E6BA8"/>
            </a:solidFill>
            <a:prstDash val="solid"/>
          </a:ln>
        </p:spPr>
      </p:sp>
      <p:sp>
        <p:nvSpPr>
          <p:cNvPr id="6" name="Text 4"/>
          <p:cNvSpPr/>
          <p:nvPr/>
        </p:nvSpPr>
        <p:spPr>
          <a:xfrm>
            <a:off x="201168" y="822960"/>
            <a:ext cx="16459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Grouped Bar Chart</a:t>
            </a:r>
            <a:endParaRPr lang="en-US" sz="1000" dirty="0"/>
          </a:p>
        </p:txBody>
      </p:sp>
      <p:sp>
        <p:nvSpPr>
          <p:cNvPr id="7" name="Text 5"/>
          <p:cNvSpPr/>
          <p:nvPr/>
        </p:nvSpPr>
        <p:spPr>
          <a:xfrm>
            <a:off x="2011680" y="841248"/>
            <a:ext cx="685800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Price_Band · Brand · Customer_Rating (avg)</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average customer ratings (1–5 scale) for each price band (Budget, Mid, Premium, Luxury) per brand.</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Shows that Premium segment cars get highest satisfaction, validating Price_Band as an important ML feature. Also reveals brand loyalty patterns.</a:t>
            </a:r>
            <a:endParaRPr lang="en-US" sz="1150" dirty="0"/>
          </a:p>
        </p:txBody>
      </p:sp>
      <p:pic>
        <p:nvPicPr>
          <p:cNvPr id="18" name="Picture 17"/>
          <p:cNvPicPr>
            <a:picLocks noChangeAspect="1"/>
          </p:cNvPicPr>
          <p:nvPr/>
        </p:nvPicPr>
        <p:blipFill>
          <a:blip r:embed="rId3"/>
          <a:stretch>
            <a:fillRect/>
          </a:stretch>
        </p:blipFill>
        <p:spPr>
          <a:xfrm>
            <a:off x="5374922" y="1412522"/>
            <a:ext cx="3442696" cy="155701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1" name="Rectangle 20"/>
          <p:cNvSpPr/>
          <p:nvPr/>
        </p:nvSpPr>
        <p:spPr>
          <a:xfrm>
            <a:off x="5425506" y="3218688"/>
            <a:ext cx="3169725" cy="523220"/>
          </a:xfrm>
          <a:prstGeom prst="rect">
            <a:avLst/>
          </a:prstGeom>
        </p:spPr>
        <p:style>
          <a:lnRef idx="2">
            <a:schemeClr val="accent6">
              <a:shade val="50000"/>
            </a:schemeClr>
          </a:lnRef>
          <a:fillRef idx="1002">
            <a:schemeClr val="dk2"/>
          </a:fillRef>
          <a:effectRef idx="0">
            <a:schemeClr val="accent6"/>
          </a:effectRef>
          <a:fontRef idx="minor">
            <a:schemeClr val="lt1"/>
          </a:fontRef>
        </p:style>
        <p:txBody>
          <a:bodyPr wrap="square" lIns="91440" tIns="45720" rIns="91440" bIns="45720">
            <a:spAutoFit/>
          </a:bodyPr>
          <a:lstStyle/>
          <a:p>
            <a:pPr algn="ctr"/>
            <a:r>
              <a:rPr lang="en-US" sz="2800" b="1" dirty="0" smtClean="0">
                <a:ln w="6600">
                  <a:solidFill>
                    <a:schemeClr val="accent2"/>
                  </a:solidFill>
                  <a:prstDash val="solid"/>
                </a:ln>
                <a:solidFill>
                  <a:srgbClr val="FFFFFF"/>
                </a:solidFill>
                <a:effectLst>
                  <a:outerShdw dist="38100" dir="2700000" algn="tl" rotWithShape="0">
                    <a:schemeClr val="accent2"/>
                  </a:outerShdw>
                </a:effectLst>
              </a:rPr>
              <a:t>Grouped bar Chart</a:t>
            </a:r>
            <a:endParaRPr lang="en-US" sz="28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22" name="Rectangle 21"/>
          <p:cNvSpPr/>
          <p:nvPr/>
        </p:nvSpPr>
        <p:spPr>
          <a:xfrm>
            <a:off x="201168" y="4183040"/>
            <a:ext cx="8668512" cy="58477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600" b="1" dirty="0" smtClean="0"/>
              <a:t>Grouped Bar Chart </a:t>
            </a:r>
            <a:r>
              <a:rPr lang="en-US" sz="1600" dirty="0"/>
              <a:t>→ </a:t>
            </a:r>
            <a:r>
              <a:rPr lang="en-US" sz="1600" dirty="0" smtClean="0"/>
              <a:t> </a:t>
            </a:r>
            <a:r>
              <a:rPr lang="en-US" sz="1600" b="1" dirty="0"/>
              <a:t>Pattern detection</a:t>
            </a:r>
            <a:r>
              <a:rPr lang="en-US" sz="1600" dirty="0"/>
              <a:t> → Helps identify consistency, anomalies, or trends across categories.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1931"/>
        </a:solidFill>
        <a:effectLst/>
      </p:bgPr>
    </p:bg>
    <p:spTree>
      <p:nvGrpSpPr>
        <p:cNvPr id="1" name=""/>
        <p:cNvGrpSpPr/>
        <p:nvPr/>
      </p:nvGrpSpPr>
      <p:grpSpPr>
        <a:xfrm>
          <a:off x="0" y="0"/>
          <a:ext cx="0" cy="0"/>
          <a:chOff x="0" y="0"/>
          <a:chExt cx="0" cy="0"/>
        </a:xfrm>
      </p:grpSpPr>
      <p:sp>
        <p:nvSpPr>
          <p:cNvPr id="2" name="Shape 0"/>
          <p:cNvSpPr/>
          <p:nvPr/>
        </p:nvSpPr>
        <p:spPr>
          <a:xfrm>
            <a:off x="0" y="0"/>
            <a:ext cx="9144000" cy="1371600"/>
          </a:xfrm>
          <a:prstGeom prst="rect">
            <a:avLst/>
          </a:prstGeom>
          <a:solidFill>
            <a:srgbClr val="0E6BA8"/>
          </a:solidFill>
          <a:ln w="12700">
            <a:solidFill>
              <a:srgbClr val="0E6BA8"/>
            </a:solidFill>
            <a:prstDash val="solid"/>
          </a:ln>
        </p:spPr>
      </p:sp>
      <p:sp>
        <p:nvSpPr>
          <p:cNvPr id="3" name="Text 1"/>
          <p:cNvSpPr/>
          <p:nvPr/>
        </p:nvSpPr>
        <p:spPr>
          <a:xfrm>
            <a:off x="365760" y="91440"/>
            <a:ext cx="8412480" cy="11887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Introduction to Machine Learning</a:t>
            </a:r>
            <a:endParaRPr lang="en-US" sz="3000" dirty="0"/>
          </a:p>
        </p:txBody>
      </p:sp>
      <p:sp>
        <p:nvSpPr>
          <p:cNvPr id="4" name="Text 2"/>
          <p:cNvSpPr/>
          <p:nvPr/>
        </p:nvSpPr>
        <p:spPr>
          <a:xfrm>
            <a:off x="365760" y="1463040"/>
            <a:ext cx="4846320" cy="548640"/>
          </a:xfrm>
          <a:prstGeom prst="rect">
            <a:avLst/>
          </a:prstGeom>
          <a:noFill/>
          <a:ln/>
        </p:spPr>
        <p:txBody>
          <a:bodyPr wrap="square" rtlCol="0" anchor="ctr"/>
          <a:lstStyle/>
          <a:p>
            <a:pPr marL="0" indent="0">
              <a:buNone/>
            </a:pPr>
            <a:r>
              <a:rPr lang="en-US" sz="1300" dirty="0">
                <a:solidFill>
                  <a:srgbClr val="00C9FF"/>
                </a:solidFill>
                <a:latin typeface="Calibri" pitchFamily="34" charset="0"/>
                <a:ea typeface="Calibri" pitchFamily="34" charset="-122"/>
                <a:cs typeface="Calibri" pitchFamily="34" charset="-120"/>
              </a:rPr>
              <a:t>In this project we apply Random Forest Regressor to predict Units Sold based on 12 vehicle and market features.</a:t>
            </a:r>
            <a:endParaRPr lang="en-US" sz="1300" dirty="0"/>
          </a:p>
        </p:txBody>
      </p:sp>
      <p:sp>
        <p:nvSpPr>
          <p:cNvPr id="5" name="Shape 3"/>
          <p:cNvSpPr/>
          <p:nvPr/>
        </p:nvSpPr>
        <p:spPr>
          <a:xfrm>
            <a:off x="365760" y="2121408"/>
            <a:ext cx="4846320" cy="475488"/>
          </a:xfrm>
          <a:prstGeom prst="rect">
            <a:avLst/>
          </a:prstGeom>
          <a:solidFill>
            <a:srgbClr val="0F172A"/>
          </a:solidFill>
          <a:ln w="12700">
            <a:solidFill>
              <a:srgbClr val="1E3A5F"/>
            </a:solidFill>
            <a:prstDash val="solid"/>
          </a:ln>
        </p:spPr>
      </p:sp>
      <p:sp>
        <p:nvSpPr>
          <p:cNvPr id="6" name="Text 4"/>
          <p:cNvSpPr/>
          <p:nvPr/>
        </p:nvSpPr>
        <p:spPr>
          <a:xfrm>
            <a:off x="502920" y="2121408"/>
            <a:ext cx="1371600" cy="475488"/>
          </a:xfrm>
          <a:prstGeom prst="rect">
            <a:avLst/>
          </a:prstGeom>
          <a:noFill/>
          <a:ln/>
        </p:spPr>
        <p:txBody>
          <a:bodyPr wrap="square" lIns="0" tIns="0" rIns="0" bIns="0" rtlCol="0" anchor="ctr"/>
          <a:lstStyle/>
          <a:p>
            <a:pPr marL="0" indent="0">
              <a:buNone/>
            </a:pPr>
            <a:r>
              <a:rPr lang="en-US" sz="1100" b="1" dirty="0">
                <a:solidFill>
                  <a:srgbClr val="00C9FF"/>
                </a:solidFill>
                <a:latin typeface="Calibri" pitchFamily="34" charset="0"/>
                <a:ea typeface="Calibri" pitchFamily="34" charset="-122"/>
                <a:cs typeface="Calibri" pitchFamily="34" charset="-120"/>
              </a:rPr>
              <a:t>Algorithm: </a:t>
            </a:r>
            <a:endParaRPr lang="en-US" sz="1100" dirty="0"/>
          </a:p>
        </p:txBody>
      </p:sp>
      <p:sp>
        <p:nvSpPr>
          <p:cNvPr id="7" name="Text 5"/>
          <p:cNvSpPr/>
          <p:nvPr/>
        </p:nvSpPr>
        <p:spPr>
          <a:xfrm>
            <a:off x="1920240" y="2121408"/>
            <a:ext cx="3200400"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Random Forest Regressor (ensemble of 100 decision trees)</a:t>
            </a:r>
            <a:endParaRPr lang="en-US" sz="1100" dirty="0"/>
          </a:p>
        </p:txBody>
      </p:sp>
      <p:sp>
        <p:nvSpPr>
          <p:cNvPr id="8" name="Shape 6"/>
          <p:cNvSpPr/>
          <p:nvPr/>
        </p:nvSpPr>
        <p:spPr>
          <a:xfrm>
            <a:off x="365760" y="2670048"/>
            <a:ext cx="4846320" cy="475488"/>
          </a:xfrm>
          <a:prstGeom prst="rect">
            <a:avLst/>
          </a:prstGeom>
          <a:solidFill>
            <a:srgbClr val="0F172A"/>
          </a:solidFill>
          <a:ln w="12700">
            <a:solidFill>
              <a:srgbClr val="1E3A5F"/>
            </a:solidFill>
            <a:prstDash val="solid"/>
          </a:ln>
        </p:spPr>
      </p:sp>
      <p:sp>
        <p:nvSpPr>
          <p:cNvPr id="9" name="Text 7"/>
          <p:cNvSpPr/>
          <p:nvPr/>
        </p:nvSpPr>
        <p:spPr>
          <a:xfrm>
            <a:off x="502920" y="2670048"/>
            <a:ext cx="1371600" cy="475488"/>
          </a:xfrm>
          <a:prstGeom prst="rect">
            <a:avLst/>
          </a:prstGeom>
          <a:noFill/>
          <a:ln/>
        </p:spPr>
        <p:txBody>
          <a:bodyPr wrap="square" lIns="0" tIns="0" rIns="0" bIns="0" rtlCol="0" anchor="ctr"/>
          <a:lstStyle/>
          <a:p>
            <a:pPr marL="0" indent="0">
              <a:buNone/>
            </a:pPr>
            <a:r>
              <a:rPr lang="en-US" sz="1100" b="1" dirty="0">
                <a:solidFill>
                  <a:srgbClr val="00C9FF"/>
                </a:solidFill>
                <a:latin typeface="Calibri" pitchFamily="34" charset="0"/>
                <a:ea typeface="Calibri" pitchFamily="34" charset="-122"/>
                <a:cs typeface="Calibri" pitchFamily="34" charset="-120"/>
              </a:rPr>
              <a:t>Target Variable: </a:t>
            </a:r>
            <a:endParaRPr lang="en-US" sz="1100" dirty="0"/>
          </a:p>
        </p:txBody>
      </p:sp>
      <p:sp>
        <p:nvSpPr>
          <p:cNvPr id="10" name="Text 8"/>
          <p:cNvSpPr/>
          <p:nvPr/>
        </p:nvSpPr>
        <p:spPr>
          <a:xfrm>
            <a:off x="1920240" y="2670048"/>
            <a:ext cx="3200400"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Units_Sold (continuous — regression task)</a:t>
            </a:r>
            <a:endParaRPr lang="en-US" sz="1100" dirty="0"/>
          </a:p>
        </p:txBody>
      </p:sp>
      <p:sp>
        <p:nvSpPr>
          <p:cNvPr id="11" name="Shape 9"/>
          <p:cNvSpPr/>
          <p:nvPr/>
        </p:nvSpPr>
        <p:spPr>
          <a:xfrm>
            <a:off x="365760" y="3218688"/>
            <a:ext cx="4846320" cy="475488"/>
          </a:xfrm>
          <a:prstGeom prst="rect">
            <a:avLst/>
          </a:prstGeom>
          <a:solidFill>
            <a:srgbClr val="0F172A"/>
          </a:solidFill>
          <a:ln w="12700">
            <a:solidFill>
              <a:srgbClr val="1E3A5F"/>
            </a:solidFill>
            <a:prstDash val="solid"/>
          </a:ln>
        </p:spPr>
      </p:sp>
      <p:sp>
        <p:nvSpPr>
          <p:cNvPr id="12" name="Text 10"/>
          <p:cNvSpPr/>
          <p:nvPr/>
        </p:nvSpPr>
        <p:spPr>
          <a:xfrm>
            <a:off x="502920" y="3218688"/>
            <a:ext cx="1371600" cy="475488"/>
          </a:xfrm>
          <a:prstGeom prst="rect">
            <a:avLst/>
          </a:prstGeom>
          <a:noFill/>
          <a:ln/>
        </p:spPr>
        <p:txBody>
          <a:bodyPr wrap="square" lIns="0" tIns="0" rIns="0" bIns="0" rtlCol="0" anchor="ctr"/>
          <a:lstStyle/>
          <a:p>
            <a:pPr marL="0" indent="0">
              <a:buNone/>
            </a:pPr>
            <a:r>
              <a:rPr lang="en-US" sz="1100" b="1" dirty="0">
                <a:solidFill>
                  <a:srgbClr val="00C9FF"/>
                </a:solidFill>
                <a:latin typeface="Calibri" pitchFamily="34" charset="0"/>
                <a:ea typeface="Calibri" pitchFamily="34" charset="-122"/>
                <a:cs typeface="Calibri" pitchFamily="34" charset="-120"/>
              </a:rPr>
              <a:t>Features (12): </a:t>
            </a:r>
            <a:endParaRPr lang="en-US" sz="1100" dirty="0"/>
          </a:p>
        </p:txBody>
      </p:sp>
      <p:sp>
        <p:nvSpPr>
          <p:cNvPr id="13" name="Text 11"/>
          <p:cNvSpPr/>
          <p:nvPr/>
        </p:nvSpPr>
        <p:spPr>
          <a:xfrm>
            <a:off x="1920240" y="3218688"/>
            <a:ext cx="3200400"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Price, Mileage, Rating, Service Cost, Safety, Brand, Segment, Fuel, Transmission, Year, Month, Quarter</a:t>
            </a:r>
            <a:endParaRPr lang="en-US" sz="1100" dirty="0"/>
          </a:p>
        </p:txBody>
      </p:sp>
      <p:sp>
        <p:nvSpPr>
          <p:cNvPr id="14" name="Shape 12"/>
          <p:cNvSpPr/>
          <p:nvPr/>
        </p:nvSpPr>
        <p:spPr>
          <a:xfrm>
            <a:off x="365760" y="3767328"/>
            <a:ext cx="4846320" cy="475488"/>
          </a:xfrm>
          <a:prstGeom prst="rect">
            <a:avLst/>
          </a:prstGeom>
          <a:solidFill>
            <a:srgbClr val="0F172A"/>
          </a:solidFill>
          <a:ln w="12700">
            <a:solidFill>
              <a:srgbClr val="1E3A5F"/>
            </a:solidFill>
            <a:prstDash val="solid"/>
          </a:ln>
        </p:spPr>
      </p:sp>
      <p:sp>
        <p:nvSpPr>
          <p:cNvPr id="15" name="Text 13"/>
          <p:cNvSpPr/>
          <p:nvPr/>
        </p:nvSpPr>
        <p:spPr>
          <a:xfrm>
            <a:off x="502920" y="3767328"/>
            <a:ext cx="1371600" cy="475488"/>
          </a:xfrm>
          <a:prstGeom prst="rect">
            <a:avLst/>
          </a:prstGeom>
          <a:noFill/>
          <a:ln/>
        </p:spPr>
        <p:txBody>
          <a:bodyPr wrap="square" lIns="0" tIns="0" rIns="0" bIns="0" rtlCol="0" anchor="ctr"/>
          <a:lstStyle/>
          <a:p>
            <a:pPr marL="0" indent="0">
              <a:buNone/>
            </a:pPr>
            <a:r>
              <a:rPr lang="en-US" sz="1100" b="1" dirty="0">
                <a:solidFill>
                  <a:srgbClr val="00C9FF"/>
                </a:solidFill>
                <a:latin typeface="Calibri" pitchFamily="34" charset="0"/>
                <a:ea typeface="Calibri" pitchFamily="34" charset="-122"/>
                <a:cs typeface="Calibri" pitchFamily="34" charset="-120"/>
              </a:rPr>
              <a:t>Split: </a:t>
            </a:r>
            <a:endParaRPr lang="en-US" sz="1100" dirty="0"/>
          </a:p>
        </p:txBody>
      </p:sp>
      <p:sp>
        <p:nvSpPr>
          <p:cNvPr id="16" name="Text 14"/>
          <p:cNvSpPr/>
          <p:nvPr/>
        </p:nvSpPr>
        <p:spPr>
          <a:xfrm>
            <a:off x="1920240" y="3767328"/>
            <a:ext cx="3200400"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80% Train / 20% Test | random_state = 42</a:t>
            </a:r>
            <a:endParaRPr lang="en-US" sz="1100" dirty="0"/>
          </a:p>
        </p:txBody>
      </p:sp>
      <p:sp>
        <p:nvSpPr>
          <p:cNvPr id="17" name="Shape 15"/>
          <p:cNvSpPr/>
          <p:nvPr/>
        </p:nvSpPr>
        <p:spPr>
          <a:xfrm>
            <a:off x="365760" y="4315968"/>
            <a:ext cx="4846320" cy="475488"/>
          </a:xfrm>
          <a:prstGeom prst="rect">
            <a:avLst/>
          </a:prstGeom>
          <a:solidFill>
            <a:srgbClr val="0F172A"/>
          </a:solidFill>
          <a:ln w="12700">
            <a:solidFill>
              <a:srgbClr val="1E3A5F"/>
            </a:solidFill>
            <a:prstDash val="solid"/>
          </a:ln>
        </p:spPr>
      </p:sp>
      <p:sp>
        <p:nvSpPr>
          <p:cNvPr id="18" name="Text 16"/>
          <p:cNvSpPr/>
          <p:nvPr/>
        </p:nvSpPr>
        <p:spPr>
          <a:xfrm>
            <a:off x="502920" y="4315968"/>
            <a:ext cx="1371600" cy="475488"/>
          </a:xfrm>
          <a:prstGeom prst="rect">
            <a:avLst/>
          </a:prstGeom>
          <a:noFill/>
          <a:ln/>
        </p:spPr>
        <p:txBody>
          <a:bodyPr wrap="square" lIns="0" tIns="0" rIns="0" bIns="0" rtlCol="0" anchor="ctr"/>
          <a:lstStyle/>
          <a:p>
            <a:pPr marL="0" indent="0">
              <a:buNone/>
            </a:pPr>
            <a:r>
              <a:rPr lang="en-US" sz="1100" b="1" dirty="0">
                <a:solidFill>
                  <a:srgbClr val="00C9FF"/>
                </a:solidFill>
                <a:latin typeface="Calibri" pitchFamily="34" charset="0"/>
                <a:ea typeface="Calibri" pitchFamily="34" charset="-122"/>
                <a:cs typeface="Calibri" pitchFamily="34" charset="-120"/>
              </a:rPr>
              <a:t>Metrics: </a:t>
            </a:r>
            <a:endParaRPr lang="en-US" sz="1100" dirty="0"/>
          </a:p>
        </p:txBody>
      </p:sp>
      <p:sp>
        <p:nvSpPr>
          <p:cNvPr id="19" name="Text 17"/>
          <p:cNvSpPr/>
          <p:nvPr/>
        </p:nvSpPr>
        <p:spPr>
          <a:xfrm>
            <a:off x="1920240" y="4315968"/>
            <a:ext cx="3200400" cy="47548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R² Score, RMSE, MAE — to evaluate prediction accuracy</a:t>
            </a:r>
            <a:endParaRPr lang="en-US" sz="1100" dirty="0"/>
          </a:p>
        </p:txBody>
      </p:sp>
      <p:pic>
        <p:nvPicPr>
          <p:cNvPr id="12292" name="Picture 4" descr="7 free online MIT courses to grasp machine learning | by MIT Open Learning  | MIT Open Learning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016" y="1852132"/>
            <a:ext cx="2446872" cy="137723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pic>
        <p:nvPicPr>
          <p:cNvPr id="12294" name="Picture 6" descr="Machine Learning Training In Bangalore | Machine Learning with Pyth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6292" y="3498651"/>
            <a:ext cx="2511948" cy="14883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ML Graph A: Feature Importance — What Drives Units Sold?</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828800" cy="292608"/>
          </a:xfrm>
          <a:prstGeom prst="rect">
            <a:avLst/>
          </a:prstGeom>
          <a:solidFill>
            <a:srgbClr val="2563EB"/>
          </a:solidFill>
          <a:ln w="12700">
            <a:solidFill>
              <a:srgbClr val="2563EB"/>
            </a:solidFill>
            <a:prstDash val="solid"/>
          </a:ln>
        </p:spPr>
      </p:sp>
      <p:sp>
        <p:nvSpPr>
          <p:cNvPr id="6" name="Text 4"/>
          <p:cNvSpPr/>
          <p:nvPr/>
        </p:nvSpPr>
        <p:spPr>
          <a:xfrm>
            <a:off x="201168" y="822960"/>
            <a:ext cx="18288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 Horizontal Bar Chart</a:t>
            </a:r>
            <a:endParaRPr lang="en-US" sz="1000" dirty="0"/>
          </a:p>
        </p:txBody>
      </p:sp>
      <p:sp>
        <p:nvSpPr>
          <p:cNvPr id="7" name="Text 5"/>
          <p:cNvSpPr/>
          <p:nvPr/>
        </p:nvSpPr>
        <p:spPr>
          <a:xfrm>
            <a:off x="2194560" y="841248"/>
            <a:ext cx="66751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12 Features → Importance Score (Random Forest impurity-based)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Random Forest assigns an importance score to each input feature based on how much it reduces prediction error across all decision trees.</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Reveals which variables most influence car sales. In our project, Price Band, Month, and Mileage typically rank highest — guiding which features matter for business decisions.</a:t>
            </a:r>
            <a:endParaRPr lang="en-US" sz="1150" dirty="0"/>
          </a:p>
        </p:txBody>
      </p:sp>
      <p:pic>
        <p:nvPicPr>
          <p:cNvPr id="18" name="Picture 17"/>
          <p:cNvPicPr>
            <a:picLocks noChangeAspect="1"/>
          </p:cNvPicPr>
          <p:nvPr/>
        </p:nvPicPr>
        <p:blipFill>
          <a:blip r:embed="rId3"/>
          <a:stretch>
            <a:fillRect/>
          </a:stretch>
        </p:blipFill>
        <p:spPr>
          <a:xfrm>
            <a:off x="5397763" y="1344168"/>
            <a:ext cx="3379939" cy="161631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429201" y="3232449"/>
            <a:ext cx="3317061" cy="523220"/>
          </a:xfrm>
          <a:prstGeom prst="rect">
            <a:avLst/>
          </a:prstGeom>
        </p:spPr>
        <p:style>
          <a:lnRef idx="3">
            <a:schemeClr val="lt1"/>
          </a:lnRef>
          <a:fillRef idx="1">
            <a:schemeClr val="accent2"/>
          </a:fillRef>
          <a:effectRef idx="1">
            <a:schemeClr val="accent2"/>
          </a:effectRef>
          <a:fontRef idx="minor">
            <a:schemeClr val="lt1"/>
          </a:fontRef>
        </p:style>
        <p:txBody>
          <a:bodyPr wrap="square" lIns="91440" tIns="45720" rIns="91440" bIns="45720">
            <a:spAutoFit/>
          </a:bodyPr>
          <a:lstStyle/>
          <a:p>
            <a:pPr algn="ctr"/>
            <a:r>
              <a:rPr lang="en-US" sz="2800" b="1" dirty="0" smtClean="0">
                <a:ln w="6600">
                  <a:solidFill>
                    <a:schemeClr val="accent2"/>
                  </a:solidFill>
                  <a:prstDash val="solid"/>
                </a:ln>
                <a:solidFill>
                  <a:srgbClr val="FFFFFF"/>
                </a:solidFill>
                <a:effectLst>
                  <a:outerShdw dist="38100" dir="2700000" algn="tl" rotWithShape="0">
                    <a:schemeClr val="accent2"/>
                  </a:outerShdw>
                </a:effectLst>
              </a:rPr>
              <a:t>Horizontal bar Chart</a:t>
            </a:r>
            <a:endParaRPr lang="en-US" sz="2800" b="1" dirty="0">
              <a:ln w="6600">
                <a:solidFill>
                  <a:schemeClr val="accent2"/>
                </a:solidFill>
                <a:prstDash val="solid"/>
              </a:ln>
              <a:solidFill>
                <a:srgbClr val="FFFFFF"/>
              </a:solidFill>
              <a:effectLst>
                <a:outerShdw dist="38100" dir="2700000" algn="tl" rotWithShape="0">
                  <a:schemeClr val="accent2"/>
                </a:outerShdw>
              </a:effectLst>
            </a:endParaRPr>
          </a:p>
        </p:txBody>
      </p:sp>
      <p:sp>
        <p:nvSpPr>
          <p:cNvPr id="26" name="Rectangle 25"/>
          <p:cNvSpPr/>
          <p:nvPr/>
        </p:nvSpPr>
        <p:spPr>
          <a:xfrm>
            <a:off x="925445" y="4181544"/>
            <a:ext cx="7530492" cy="369332"/>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Random Forest is based on the principle of bagging (Bootstrap Aggregating).</a:t>
            </a:r>
          </a:p>
        </p:txBody>
      </p:sp>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ML Graph B: Actual vs Predicted Units Sold</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828800" cy="292608"/>
          </a:xfrm>
          <a:prstGeom prst="rect">
            <a:avLst/>
          </a:prstGeom>
          <a:solidFill>
            <a:srgbClr val="2563EB"/>
          </a:solidFill>
          <a:ln w="12700">
            <a:solidFill>
              <a:srgbClr val="2563EB"/>
            </a:solidFill>
            <a:prstDash val="solid"/>
          </a:ln>
        </p:spPr>
      </p:sp>
      <p:sp>
        <p:nvSpPr>
          <p:cNvPr id="6" name="Text 4"/>
          <p:cNvSpPr/>
          <p:nvPr/>
        </p:nvSpPr>
        <p:spPr>
          <a:xfrm>
            <a:off x="201168" y="822960"/>
            <a:ext cx="18288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 Scatter Plot</a:t>
            </a:r>
            <a:endParaRPr lang="en-US" sz="1000" dirty="0"/>
          </a:p>
        </p:txBody>
      </p:sp>
      <p:sp>
        <p:nvSpPr>
          <p:cNvPr id="7" name="Text 5"/>
          <p:cNvSpPr/>
          <p:nvPr/>
        </p:nvSpPr>
        <p:spPr>
          <a:xfrm>
            <a:off x="2194560" y="841248"/>
            <a:ext cx="66751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y_test (Actual) · preds (Predicted) · R² Score</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Plots actual Units_Sold (X) against the model's predicted values (Y). A perfect model would place all points on the red dashed diagonal.</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Visualizes model accuracy visually. R² score shown in title confirms goodness-of-fit. Points clustered near the diagonal confirm the Random Forest generalizes well on unseen automobile data.</a:t>
            </a:r>
            <a:endParaRPr lang="en-US" sz="1150" dirty="0"/>
          </a:p>
        </p:txBody>
      </p:sp>
      <p:pic>
        <p:nvPicPr>
          <p:cNvPr id="18" name="Picture 17"/>
          <p:cNvPicPr>
            <a:picLocks noChangeAspect="1"/>
          </p:cNvPicPr>
          <p:nvPr/>
        </p:nvPicPr>
        <p:blipFill>
          <a:blip r:embed="rId3"/>
          <a:stretch>
            <a:fillRect/>
          </a:stretch>
        </p:blipFill>
        <p:spPr>
          <a:xfrm>
            <a:off x="5532120" y="1344168"/>
            <a:ext cx="2987191" cy="182936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9" name="Rectangle 18"/>
          <p:cNvSpPr/>
          <p:nvPr/>
        </p:nvSpPr>
        <p:spPr>
          <a:xfrm>
            <a:off x="5367184" y="3414278"/>
            <a:ext cx="3317061"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lIns="91440" tIns="45720" rIns="91440" bIns="45720">
            <a:spAutoFit/>
          </a:bodyPr>
          <a:lstStyle/>
          <a:p>
            <a:pPr algn="ctr"/>
            <a:r>
              <a:rPr lang="en-US" sz="2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Scatter Plot</a:t>
            </a:r>
            <a:endParaRPr lang="en-US"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0" name="Rectangle 19"/>
          <p:cNvSpPr/>
          <p:nvPr/>
        </p:nvSpPr>
        <p:spPr>
          <a:xfrm>
            <a:off x="779322" y="4265721"/>
            <a:ext cx="7530492" cy="646331"/>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r>
              <a:rPr lang="en-US" dirty="0"/>
              <a:t>Random Forest reduces this risk by averaging across multiple trees, making it more robust and generalizable.</a:t>
            </a:r>
          </a:p>
        </p:txBody>
      </p:sp>
    </p:spTree>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E6BA8"/>
          </a:solidFill>
          <a:ln w="12700">
            <a:solidFill>
              <a:srgbClr val="0E6BA8"/>
            </a:solidFill>
            <a:prstDash val="solid"/>
          </a:ln>
        </p:spPr>
      </p:sp>
      <p:sp>
        <p:nvSpPr>
          <p:cNvPr id="3" name="Text 1"/>
          <p:cNvSpPr/>
          <p:nvPr/>
        </p:nvSpPr>
        <p:spPr>
          <a:xfrm>
            <a:off x="201168" y="182880"/>
            <a:ext cx="8686800" cy="502920"/>
          </a:xfrm>
          <a:prstGeom prst="rect">
            <a:avLst/>
          </a:prstGeom>
          <a:noFill/>
          <a:ln/>
        </p:spPr>
        <p:txBody>
          <a:bodyPr wrap="square" lIns="0" tIns="0" rIns="0" bIns="0" rtlCol="0" anchor="ctr"/>
          <a:lstStyle/>
          <a:p>
            <a:pPr marL="0" indent="0">
              <a:buNone/>
            </a:pPr>
            <a:r>
              <a:rPr lang="en-US" sz="2600" b="1" dirty="0">
                <a:solidFill>
                  <a:srgbClr val="0A1931"/>
                </a:solidFill>
                <a:latin typeface="Calibri" pitchFamily="34" charset="0"/>
                <a:ea typeface="Calibri" pitchFamily="34" charset="-122"/>
                <a:cs typeface="Calibri" pitchFamily="34" charset="-120"/>
              </a:rPr>
              <a:t>ML Graph C: Residuals vs Predicted + Error Distribution</a:t>
            </a:r>
            <a:endParaRPr lang="en-US" sz="2600" dirty="0"/>
          </a:p>
        </p:txBody>
      </p:sp>
      <p:sp>
        <p:nvSpPr>
          <p:cNvPr id="4" name="Shape 2"/>
          <p:cNvSpPr/>
          <p:nvPr/>
        </p:nvSpPr>
        <p:spPr>
          <a:xfrm>
            <a:off x="201168" y="713232"/>
            <a:ext cx="8686800" cy="27432"/>
          </a:xfrm>
          <a:prstGeom prst="rect">
            <a:avLst/>
          </a:prstGeom>
          <a:solidFill>
            <a:srgbClr val="00C9FF"/>
          </a:solidFill>
          <a:ln w="12700">
            <a:solidFill>
              <a:srgbClr val="00C9FF"/>
            </a:solidFill>
            <a:prstDash val="solid"/>
          </a:ln>
        </p:spPr>
      </p:sp>
      <p:sp>
        <p:nvSpPr>
          <p:cNvPr id="5" name="Shape 3"/>
          <p:cNvSpPr/>
          <p:nvPr/>
        </p:nvSpPr>
        <p:spPr>
          <a:xfrm>
            <a:off x="201168" y="822960"/>
            <a:ext cx="1828800" cy="292608"/>
          </a:xfrm>
          <a:prstGeom prst="rect">
            <a:avLst/>
          </a:prstGeom>
          <a:solidFill>
            <a:srgbClr val="2563EB"/>
          </a:solidFill>
          <a:ln w="12700">
            <a:solidFill>
              <a:srgbClr val="2563EB"/>
            </a:solidFill>
            <a:prstDash val="solid"/>
          </a:ln>
        </p:spPr>
      </p:sp>
      <p:sp>
        <p:nvSpPr>
          <p:cNvPr id="6" name="Text 4"/>
          <p:cNvSpPr/>
          <p:nvPr/>
        </p:nvSpPr>
        <p:spPr>
          <a:xfrm>
            <a:off x="201168" y="822960"/>
            <a:ext cx="18288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 Dual Panel — Scatter + Histogram</a:t>
            </a:r>
            <a:endParaRPr lang="en-US" sz="1000" dirty="0"/>
          </a:p>
        </p:txBody>
      </p:sp>
      <p:sp>
        <p:nvSpPr>
          <p:cNvPr id="7" name="Text 5"/>
          <p:cNvSpPr/>
          <p:nvPr/>
        </p:nvSpPr>
        <p:spPr>
          <a:xfrm>
            <a:off x="2194560" y="841248"/>
            <a:ext cx="667512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Parameters: residuals = y_test − preds · Predicted Units_Sold</a:t>
            </a:r>
            <a:endParaRPr lang="en-US" sz="1000" dirty="0"/>
          </a:p>
        </p:txBody>
      </p:sp>
      <p:sp>
        <p:nvSpPr>
          <p:cNvPr id="8" name="Shape 6"/>
          <p:cNvSpPr/>
          <p:nvPr/>
        </p:nvSpPr>
        <p:spPr>
          <a:xfrm>
            <a:off x="201168" y="1207008"/>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9" name="Shape 7"/>
          <p:cNvSpPr/>
          <p:nvPr/>
        </p:nvSpPr>
        <p:spPr>
          <a:xfrm>
            <a:off x="201168" y="1207008"/>
            <a:ext cx="4846320" cy="274320"/>
          </a:xfrm>
          <a:prstGeom prst="rect">
            <a:avLst/>
          </a:prstGeom>
          <a:solidFill>
            <a:srgbClr val="0A1931"/>
          </a:solidFill>
          <a:ln w="12700">
            <a:solidFill>
              <a:srgbClr val="0A1931"/>
            </a:solidFill>
            <a:prstDash val="solid"/>
          </a:ln>
        </p:spPr>
      </p:sp>
      <p:sp>
        <p:nvSpPr>
          <p:cNvPr id="10" name="Text 8"/>
          <p:cNvSpPr/>
          <p:nvPr/>
        </p:nvSpPr>
        <p:spPr>
          <a:xfrm>
            <a:off x="292608" y="1207008"/>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11" name="Text 9"/>
          <p:cNvSpPr/>
          <p:nvPr/>
        </p:nvSpPr>
        <p:spPr>
          <a:xfrm>
            <a:off x="292608" y="1508760"/>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Left panel plots prediction errors (residuals) against predicted values. Right panel shows a histogram of all errors to assess normality.</a:t>
            </a:r>
            <a:endParaRPr lang="en-US" sz="1150" dirty="0"/>
          </a:p>
        </p:txBody>
      </p:sp>
      <p:sp>
        <p:nvSpPr>
          <p:cNvPr id="12" name="Shape 10"/>
          <p:cNvSpPr/>
          <p:nvPr/>
        </p:nvSpPr>
        <p:spPr>
          <a:xfrm>
            <a:off x="201168" y="2505456"/>
            <a:ext cx="4846320" cy="1170432"/>
          </a:xfrm>
          <a:prstGeom prst="rect">
            <a:avLst/>
          </a:prstGeom>
          <a:solidFill>
            <a:srgbClr val="F1F5F9"/>
          </a:solidFill>
          <a:ln w="12700">
            <a:solidFill>
              <a:srgbClr val="E8F4FD"/>
            </a:solidFill>
            <a:prstDash val="solid"/>
          </a:ln>
          <a:effectLst>
            <a:outerShdw blurRad="38100" dist="12700" dir="8100000" algn="bl" rotWithShape="0">
              <a:srgbClr val="000000">
                <a:alpha val="7000"/>
              </a:srgbClr>
            </a:outerShdw>
          </a:effectLst>
        </p:spPr>
      </p:sp>
      <p:sp>
        <p:nvSpPr>
          <p:cNvPr id="13" name="Shape 11"/>
          <p:cNvSpPr/>
          <p:nvPr/>
        </p:nvSpPr>
        <p:spPr>
          <a:xfrm>
            <a:off x="201168" y="2505456"/>
            <a:ext cx="4846320" cy="274320"/>
          </a:xfrm>
          <a:prstGeom prst="rect">
            <a:avLst/>
          </a:prstGeom>
          <a:solidFill>
            <a:srgbClr val="065A82"/>
          </a:solidFill>
          <a:ln w="12700">
            <a:solidFill>
              <a:srgbClr val="065A82"/>
            </a:solidFill>
            <a:prstDash val="solid"/>
          </a:ln>
        </p:spPr>
      </p:sp>
      <p:sp>
        <p:nvSpPr>
          <p:cNvPr id="14" name="Text 12"/>
          <p:cNvSpPr/>
          <p:nvPr/>
        </p:nvSpPr>
        <p:spPr>
          <a:xfrm>
            <a:off x="292608" y="2505456"/>
            <a:ext cx="466344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Contribution to Project</a:t>
            </a:r>
            <a:endParaRPr lang="en-US" sz="1100" dirty="0"/>
          </a:p>
        </p:txBody>
      </p:sp>
      <p:sp>
        <p:nvSpPr>
          <p:cNvPr id="15" name="Text 13"/>
          <p:cNvSpPr/>
          <p:nvPr/>
        </p:nvSpPr>
        <p:spPr>
          <a:xfrm>
            <a:off x="292608" y="2807208"/>
            <a:ext cx="4617720" cy="822960"/>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Validates model assumptions — random scatter around zero confirms no systematic bias. Near-normal error distribution confirms the model is statistically sound for predicting Indian automobile sales.</a:t>
            </a:r>
            <a:endParaRPr lang="en-US" sz="1150" dirty="0"/>
          </a:p>
        </p:txBody>
      </p:sp>
      <p:pic>
        <p:nvPicPr>
          <p:cNvPr id="19" name="Picture 18"/>
          <p:cNvPicPr>
            <a:picLocks noChangeAspect="1"/>
          </p:cNvPicPr>
          <p:nvPr/>
        </p:nvPicPr>
        <p:blipFill>
          <a:blip r:embed="rId3"/>
          <a:stretch>
            <a:fillRect/>
          </a:stretch>
        </p:blipFill>
        <p:spPr>
          <a:xfrm>
            <a:off x="5573265" y="1350822"/>
            <a:ext cx="2828352" cy="1705831"/>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20" name="Rectangle 19"/>
          <p:cNvSpPr/>
          <p:nvPr/>
        </p:nvSpPr>
        <p:spPr>
          <a:xfrm>
            <a:off x="5367184" y="3414278"/>
            <a:ext cx="3317061" cy="52322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lIns="91440" tIns="45720" rIns="91440" bIns="45720">
            <a:spAutoFit/>
          </a:bodyPr>
          <a:lstStyle/>
          <a:p>
            <a:pPr algn="ctr"/>
            <a:r>
              <a:rPr lang="en-US" sz="28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alibri" pitchFamily="34" charset="0"/>
                <a:ea typeface="Calibri" pitchFamily="34" charset="-122"/>
                <a:cs typeface="Calibri" pitchFamily="34" charset="-120"/>
              </a:rPr>
              <a:t>Scatter </a:t>
            </a:r>
            <a:r>
              <a:rPr lang="en-US"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alibri" pitchFamily="34" charset="0"/>
                <a:ea typeface="Calibri" pitchFamily="34" charset="-122"/>
                <a:cs typeface="Calibri" pitchFamily="34" charset="-120"/>
              </a:rPr>
              <a:t>+ Histogram</a:t>
            </a:r>
            <a:endParaRPr lang="en-US" sz="2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21" name="Rectangle 20"/>
          <p:cNvSpPr/>
          <p:nvPr/>
        </p:nvSpPr>
        <p:spPr>
          <a:xfrm>
            <a:off x="871125" y="4445764"/>
            <a:ext cx="7530492"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ln w="0"/>
                <a:solidFill>
                  <a:schemeClr val="tx1"/>
                </a:solidFill>
                <a:effectLst>
                  <a:outerShdw blurRad="38100" dist="19050" dir="2700000" algn="tl" rotWithShape="0">
                    <a:schemeClr val="dk1">
                      <a:alpha val="40000"/>
                    </a:schemeClr>
                  </a:outerShdw>
                </a:effectLst>
              </a:rPr>
              <a:t>Random Forest can measure the importance of each feature in prediction.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blipFill dpi="0" rotWithShape="1">
            <a:blip r:embed="rId2">
              <a:alphaModFix amt="64000"/>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88507" y="2156251"/>
            <a:ext cx="4302973" cy="830997"/>
          </a:xfrm>
          <a:prstGeom prst="rect">
            <a:avLst/>
          </a:prstGeom>
          <a:noFill/>
        </p:spPr>
        <p:txBody>
          <a:bodyPr wrap="none" lIns="91440" tIns="45720" rIns="91440" bIns="45720">
            <a:spAutoFit/>
          </a:bodyPr>
          <a:lstStyle/>
          <a:p>
            <a:pPr algn="ctr"/>
            <a:r>
              <a:rPr lang="en-US" sz="48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Implementation</a:t>
            </a:r>
            <a:endParaRPr lang="en-US" sz="48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355803278"/>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77B6"/>
          </a:solidFill>
          <a:ln w="12700">
            <a:solidFill>
              <a:srgbClr val="0077B6"/>
            </a:solidFill>
            <a:prstDash val="solid"/>
          </a:ln>
        </p:spPr>
      </p:sp>
      <p:sp>
        <p:nvSpPr>
          <p:cNvPr id="3" name="Text 1"/>
          <p:cNvSpPr/>
          <p:nvPr/>
        </p:nvSpPr>
        <p:spPr>
          <a:xfrm>
            <a:off x="457200" y="137160"/>
            <a:ext cx="5486400" cy="50292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AutoIntel</a:t>
            </a:r>
            <a:endParaRPr lang="en-US" sz="3200" dirty="0"/>
          </a:p>
        </p:txBody>
      </p:sp>
      <p:sp>
        <p:nvSpPr>
          <p:cNvPr id="4" name="Text 2"/>
          <p:cNvSpPr/>
          <p:nvPr/>
        </p:nvSpPr>
        <p:spPr>
          <a:xfrm>
            <a:off x="457200" y="640080"/>
            <a:ext cx="6400800" cy="274320"/>
          </a:xfrm>
          <a:prstGeom prst="rect">
            <a:avLst/>
          </a:prstGeom>
          <a:noFill/>
          <a:ln/>
        </p:spPr>
        <p:txBody>
          <a:bodyPr wrap="square" rtlCol="0" anchor="ctr"/>
          <a:lstStyle/>
          <a:p>
            <a:pPr marL="0" indent="0">
              <a:buNone/>
            </a:pPr>
            <a:r>
              <a:rPr lang="en-US" sz="1300" dirty="0">
                <a:solidFill>
                  <a:srgbClr val="D0EEFF"/>
                </a:solidFill>
                <a:latin typeface="Calibri" pitchFamily="34" charset="0"/>
                <a:ea typeface="Calibri" pitchFamily="34" charset="-122"/>
                <a:cs typeface="Calibri" pitchFamily="34" charset="-120"/>
              </a:rPr>
              <a:t>Indian Auto Market Intelligence Platform</a:t>
            </a:r>
            <a:endParaRPr lang="en-US" sz="1300" dirty="0"/>
          </a:p>
        </p:txBody>
      </p:sp>
      <p:sp>
        <p:nvSpPr>
          <p:cNvPr id="5" name="Text 3"/>
          <p:cNvSpPr/>
          <p:nvPr/>
        </p:nvSpPr>
        <p:spPr>
          <a:xfrm>
            <a:off x="457200" y="1234440"/>
            <a:ext cx="8229600" cy="411480"/>
          </a:xfrm>
          <a:prstGeom prst="rect">
            <a:avLst/>
          </a:prstGeom>
          <a:noFill/>
          <a:ln/>
        </p:spPr>
        <p:txBody>
          <a:bodyPr wrap="square" rtlCol="0" anchor="ctr"/>
          <a:lstStyle/>
          <a:p>
            <a:pPr marL="0" indent="0">
              <a:buNone/>
            </a:pPr>
            <a:r>
              <a:rPr lang="en-US" sz="2000" b="1" dirty="0">
                <a:solidFill>
                  <a:srgbClr val="1A1A2E"/>
                </a:solidFill>
                <a:latin typeface="Calibri" pitchFamily="34" charset="0"/>
                <a:ea typeface="Calibri" pitchFamily="34" charset="-122"/>
                <a:cs typeface="Calibri" pitchFamily="34" charset="-120"/>
              </a:rPr>
              <a:t>Website Implementation Overview</a:t>
            </a:r>
            <a:endParaRPr lang="en-US" sz="2000" dirty="0"/>
          </a:p>
        </p:txBody>
      </p:sp>
      <p:sp>
        <p:nvSpPr>
          <p:cNvPr id="6" name="Text 4"/>
          <p:cNvSpPr/>
          <p:nvPr/>
        </p:nvSpPr>
        <p:spPr>
          <a:xfrm>
            <a:off x="457200" y="1737360"/>
            <a:ext cx="8229600" cy="731520"/>
          </a:xfrm>
          <a:prstGeom prst="rect">
            <a:avLst/>
          </a:prstGeom>
          <a:noFill/>
          <a:ln/>
        </p:spPr>
        <p:txBody>
          <a:bodyPr wrap="square" rtlCol="0" anchor="ctr"/>
          <a:lstStyle/>
          <a:p>
            <a:pPr marL="0" indent="0">
              <a:lnSpc>
                <a:spcPct val="140000"/>
              </a:lnSpc>
              <a:buNone/>
            </a:pPr>
            <a:r>
              <a:rPr lang="en-US" sz="1300" dirty="0">
                <a:solidFill>
                  <a:srgbClr val="444444"/>
                </a:solidFill>
                <a:latin typeface="Calibri" pitchFamily="34" charset="0"/>
                <a:ea typeface="Calibri" pitchFamily="34" charset="-122"/>
                <a:cs typeface="Calibri" pitchFamily="34" charset="-120"/>
              </a:rPr>
              <a:t>A single-page web application (SPA) providing competitive intelligence on Maruti Suzuki, Mahindra, and Hyundai — featuring ML-powered sales forecasting, interactive data exploration, and a live dataset viewer. No backend required; all processing runs client-side.</a:t>
            </a:r>
            <a:endParaRPr lang="en-US" sz="1300" dirty="0"/>
          </a:p>
        </p:txBody>
      </p:sp>
      <p:sp>
        <p:nvSpPr>
          <p:cNvPr id="7" name="Shape 5"/>
          <p:cNvSpPr/>
          <p:nvPr/>
        </p:nvSpPr>
        <p:spPr>
          <a:xfrm>
            <a:off x="457200" y="2651760"/>
            <a:ext cx="1920240" cy="960120"/>
          </a:xfrm>
          <a:prstGeom prst="rect">
            <a:avLst/>
          </a:prstGeom>
          <a:solidFill>
            <a:srgbClr val="F0F7FF"/>
          </a:solidFill>
          <a:ln w="12700">
            <a:solidFill>
              <a:srgbClr val="CCE5FF"/>
            </a:solidFill>
            <a:prstDash val="solid"/>
          </a:ln>
        </p:spPr>
      </p:sp>
      <p:sp>
        <p:nvSpPr>
          <p:cNvPr id="8" name="Shape 6"/>
          <p:cNvSpPr/>
          <p:nvPr/>
        </p:nvSpPr>
        <p:spPr>
          <a:xfrm>
            <a:off x="457200" y="2651760"/>
            <a:ext cx="1920240" cy="54864"/>
          </a:xfrm>
          <a:prstGeom prst="rect">
            <a:avLst/>
          </a:prstGeom>
          <a:solidFill>
            <a:srgbClr val="0077B6"/>
          </a:solidFill>
          <a:ln w="12700">
            <a:solidFill>
              <a:srgbClr val="0077B6"/>
            </a:solidFill>
            <a:prstDash val="solid"/>
          </a:ln>
        </p:spPr>
      </p:sp>
      <p:sp>
        <p:nvSpPr>
          <p:cNvPr id="9" name="Text 7"/>
          <p:cNvSpPr/>
          <p:nvPr/>
        </p:nvSpPr>
        <p:spPr>
          <a:xfrm>
            <a:off x="457200" y="2761488"/>
            <a:ext cx="1920240" cy="274320"/>
          </a:xfrm>
          <a:prstGeom prst="rect">
            <a:avLst/>
          </a:prstGeom>
          <a:noFill/>
          <a:ln/>
        </p:spPr>
        <p:txBody>
          <a:bodyPr wrap="square" rtlCol="0" anchor="ctr"/>
          <a:lstStyle/>
          <a:p>
            <a:pPr marL="0" indent="0" algn="ctr">
              <a:buNone/>
            </a:pPr>
            <a:r>
              <a:rPr lang="en-US" sz="1100" b="1" dirty="0">
                <a:solidFill>
                  <a:srgbClr val="1A1A2E"/>
                </a:solidFill>
                <a:latin typeface="Calibri" pitchFamily="34" charset="0"/>
                <a:ea typeface="Calibri" pitchFamily="34" charset="-122"/>
                <a:cs typeface="Calibri" pitchFamily="34" charset="-120"/>
              </a:rPr>
              <a:t>Market Overview</a:t>
            </a:r>
            <a:endParaRPr lang="en-US" sz="1100" dirty="0"/>
          </a:p>
        </p:txBody>
      </p:sp>
      <p:sp>
        <p:nvSpPr>
          <p:cNvPr id="10" name="Text 8"/>
          <p:cNvSpPr/>
          <p:nvPr/>
        </p:nvSpPr>
        <p:spPr>
          <a:xfrm>
            <a:off x="457200" y="3063240"/>
            <a:ext cx="1920240" cy="45720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Industry facts &amp; brand stats</a:t>
            </a:r>
            <a:endParaRPr lang="en-US" sz="1000" dirty="0"/>
          </a:p>
        </p:txBody>
      </p:sp>
      <p:sp>
        <p:nvSpPr>
          <p:cNvPr id="11" name="Shape 9"/>
          <p:cNvSpPr/>
          <p:nvPr/>
        </p:nvSpPr>
        <p:spPr>
          <a:xfrm>
            <a:off x="2542032" y="2651760"/>
            <a:ext cx="1920240" cy="960120"/>
          </a:xfrm>
          <a:prstGeom prst="rect">
            <a:avLst/>
          </a:prstGeom>
          <a:solidFill>
            <a:srgbClr val="F0F7FF"/>
          </a:solidFill>
          <a:ln w="12700">
            <a:solidFill>
              <a:srgbClr val="CCE5FF"/>
            </a:solidFill>
            <a:prstDash val="solid"/>
          </a:ln>
        </p:spPr>
      </p:sp>
      <p:sp>
        <p:nvSpPr>
          <p:cNvPr id="12" name="Shape 10"/>
          <p:cNvSpPr/>
          <p:nvPr/>
        </p:nvSpPr>
        <p:spPr>
          <a:xfrm>
            <a:off x="2542032" y="2651760"/>
            <a:ext cx="1920240" cy="54864"/>
          </a:xfrm>
          <a:prstGeom prst="rect">
            <a:avLst/>
          </a:prstGeom>
          <a:solidFill>
            <a:srgbClr val="0077B6"/>
          </a:solidFill>
          <a:ln w="12700">
            <a:solidFill>
              <a:srgbClr val="0077B6"/>
            </a:solidFill>
            <a:prstDash val="solid"/>
          </a:ln>
        </p:spPr>
      </p:sp>
      <p:sp>
        <p:nvSpPr>
          <p:cNvPr id="13" name="Text 11"/>
          <p:cNvSpPr/>
          <p:nvPr/>
        </p:nvSpPr>
        <p:spPr>
          <a:xfrm>
            <a:off x="2542032" y="2761488"/>
            <a:ext cx="1920240" cy="274320"/>
          </a:xfrm>
          <a:prstGeom prst="rect">
            <a:avLst/>
          </a:prstGeom>
          <a:noFill/>
          <a:ln/>
        </p:spPr>
        <p:txBody>
          <a:bodyPr wrap="square" rtlCol="0" anchor="ctr"/>
          <a:lstStyle/>
          <a:p>
            <a:pPr marL="0" indent="0" algn="ctr">
              <a:buNone/>
            </a:pPr>
            <a:r>
              <a:rPr lang="en-US" sz="1100" b="1" dirty="0">
                <a:solidFill>
                  <a:srgbClr val="1A1A2E"/>
                </a:solidFill>
                <a:latin typeface="Calibri" pitchFamily="34" charset="0"/>
                <a:ea typeface="Calibri" pitchFamily="34" charset="-122"/>
                <a:cs typeface="Calibri" pitchFamily="34" charset="-120"/>
              </a:rPr>
              <a:t>Data Explorer</a:t>
            </a:r>
            <a:endParaRPr lang="en-US" sz="1100" dirty="0"/>
          </a:p>
        </p:txBody>
      </p:sp>
      <p:sp>
        <p:nvSpPr>
          <p:cNvPr id="14" name="Text 12"/>
          <p:cNvSpPr/>
          <p:nvPr/>
        </p:nvSpPr>
        <p:spPr>
          <a:xfrm>
            <a:off x="2542032" y="3063240"/>
            <a:ext cx="1920240" cy="45720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Past, present &amp; future trends</a:t>
            </a:r>
            <a:endParaRPr lang="en-US" sz="1000" dirty="0"/>
          </a:p>
        </p:txBody>
      </p:sp>
      <p:sp>
        <p:nvSpPr>
          <p:cNvPr id="15" name="Shape 13"/>
          <p:cNvSpPr/>
          <p:nvPr/>
        </p:nvSpPr>
        <p:spPr>
          <a:xfrm>
            <a:off x="4626864" y="2651760"/>
            <a:ext cx="1920240" cy="960120"/>
          </a:xfrm>
          <a:prstGeom prst="rect">
            <a:avLst/>
          </a:prstGeom>
          <a:solidFill>
            <a:srgbClr val="F0F7FF"/>
          </a:solidFill>
          <a:ln w="12700">
            <a:solidFill>
              <a:srgbClr val="CCE5FF"/>
            </a:solidFill>
            <a:prstDash val="solid"/>
          </a:ln>
        </p:spPr>
      </p:sp>
      <p:sp>
        <p:nvSpPr>
          <p:cNvPr id="16" name="Shape 14"/>
          <p:cNvSpPr/>
          <p:nvPr/>
        </p:nvSpPr>
        <p:spPr>
          <a:xfrm>
            <a:off x="4626864" y="2651760"/>
            <a:ext cx="1920240" cy="54864"/>
          </a:xfrm>
          <a:prstGeom prst="rect">
            <a:avLst/>
          </a:prstGeom>
          <a:solidFill>
            <a:srgbClr val="0077B6"/>
          </a:solidFill>
          <a:ln w="12700">
            <a:solidFill>
              <a:srgbClr val="0077B6"/>
            </a:solidFill>
            <a:prstDash val="solid"/>
          </a:ln>
        </p:spPr>
      </p:sp>
      <p:sp>
        <p:nvSpPr>
          <p:cNvPr id="17" name="Text 15"/>
          <p:cNvSpPr/>
          <p:nvPr/>
        </p:nvSpPr>
        <p:spPr>
          <a:xfrm>
            <a:off x="4626864" y="2761488"/>
            <a:ext cx="1920240" cy="274320"/>
          </a:xfrm>
          <a:prstGeom prst="rect">
            <a:avLst/>
          </a:prstGeom>
          <a:noFill/>
          <a:ln/>
        </p:spPr>
        <p:txBody>
          <a:bodyPr wrap="square" rtlCol="0" anchor="ctr"/>
          <a:lstStyle/>
          <a:p>
            <a:pPr marL="0" indent="0" algn="ctr">
              <a:buNone/>
            </a:pPr>
            <a:r>
              <a:rPr lang="en-US" sz="1100" b="1" dirty="0">
                <a:solidFill>
                  <a:srgbClr val="1A1A2E"/>
                </a:solidFill>
                <a:latin typeface="Calibri" pitchFamily="34" charset="0"/>
                <a:ea typeface="Calibri" pitchFamily="34" charset="-122"/>
                <a:cs typeface="Calibri" pitchFamily="34" charset="-120"/>
              </a:rPr>
              <a:t>Sales Forecaster</a:t>
            </a:r>
            <a:endParaRPr lang="en-US" sz="1100" dirty="0"/>
          </a:p>
        </p:txBody>
      </p:sp>
      <p:sp>
        <p:nvSpPr>
          <p:cNvPr id="18" name="Text 16"/>
          <p:cNvSpPr/>
          <p:nvPr/>
        </p:nvSpPr>
        <p:spPr>
          <a:xfrm>
            <a:off x="4626864" y="3063240"/>
            <a:ext cx="1920240" cy="45720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RF · KNN · Ridge ML models</a:t>
            </a:r>
            <a:endParaRPr lang="en-US" sz="1000" dirty="0"/>
          </a:p>
        </p:txBody>
      </p:sp>
      <p:sp>
        <p:nvSpPr>
          <p:cNvPr id="19" name="Shape 17"/>
          <p:cNvSpPr/>
          <p:nvPr/>
        </p:nvSpPr>
        <p:spPr>
          <a:xfrm>
            <a:off x="6711696" y="2651760"/>
            <a:ext cx="1920240" cy="960120"/>
          </a:xfrm>
          <a:prstGeom prst="rect">
            <a:avLst/>
          </a:prstGeom>
          <a:solidFill>
            <a:srgbClr val="F0F7FF"/>
          </a:solidFill>
          <a:ln w="12700">
            <a:solidFill>
              <a:srgbClr val="CCE5FF"/>
            </a:solidFill>
            <a:prstDash val="solid"/>
          </a:ln>
        </p:spPr>
      </p:sp>
      <p:sp>
        <p:nvSpPr>
          <p:cNvPr id="20" name="Shape 18"/>
          <p:cNvSpPr/>
          <p:nvPr/>
        </p:nvSpPr>
        <p:spPr>
          <a:xfrm>
            <a:off x="6711696" y="2651760"/>
            <a:ext cx="1920240" cy="54864"/>
          </a:xfrm>
          <a:prstGeom prst="rect">
            <a:avLst/>
          </a:prstGeom>
          <a:solidFill>
            <a:srgbClr val="0077B6"/>
          </a:solidFill>
          <a:ln w="12700">
            <a:solidFill>
              <a:srgbClr val="0077B6"/>
            </a:solidFill>
            <a:prstDash val="solid"/>
          </a:ln>
        </p:spPr>
      </p:sp>
      <p:sp>
        <p:nvSpPr>
          <p:cNvPr id="21" name="Text 19"/>
          <p:cNvSpPr/>
          <p:nvPr/>
        </p:nvSpPr>
        <p:spPr>
          <a:xfrm>
            <a:off x="6711696" y="2761488"/>
            <a:ext cx="1920240" cy="274320"/>
          </a:xfrm>
          <a:prstGeom prst="rect">
            <a:avLst/>
          </a:prstGeom>
          <a:noFill/>
          <a:ln/>
        </p:spPr>
        <p:txBody>
          <a:bodyPr wrap="square" rtlCol="0" anchor="ctr"/>
          <a:lstStyle/>
          <a:p>
            <a:pPr marL="0" indent="0" algn="ctr">
              <a:buNone/>
            </a:pPr>
            <a:r>
              <a:rPr lang="en-US" sz="1100" b="1" dirty="0">
                <a:solidFill>
                  <a:srgbClr val="1A1A2E"/>
                </a:solidFill>
                <a:latin typeface="Calibri" pitchFamily="34" charset="0"/>
                <a:ea typeface="Calibri" pitchFamily="34" charset="-122"/>
                <a:cs typeface="Calibri" pitchFamily="34" charset="-120"/>
              </a:rPr>
              <a:t>Dataset Viewer</a:t>
            </a:r>
            <a:endParaRPr lang="en-US" sz="1100" dirty="0"/>
          </a:p>
        </p:txBody>
      </p:sp>
      <p:sp>
        <p:nvSpPr>
          <p:cNvPr id="22" name="Text 20"/>
          <p:cNvSpPr/>
          <p:nvPr/>
        </p:nvSpPr>
        <p:spPr>
          <a:xfrm>
            <a:off x="6711696" y="3063240"/>
            <a:ext cx="1920240" cy="45720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Sortable, filterable data grid</a:t>
            </a:r>
            <a:endParaRPr lang="en-US" sz="1000" dirty="0"/>
          </a:p>
        </p:txBody>
      </p:sp>
      <p:sp>
        <p:nvSpPr>
          <p:cNvPr id="23" name="Text 21"/>
          <p:cNvSpPr/>
          <p:nvPr/>
        </p:nvSpPr>
        <p:spPr>
          <a:xfrm>
            <a:off x="457200" y="3794760"/>
            <a:ext cx="1554480" cy="384048"/>
          </a:xfrm>
          <a:prstGeom prst="rect">
            <a:avLst/>
          </a:prstGeom>
          <a:noFill/>
          <a:ln/>
        </p:spPr>
        <p:txBody>
          <a:bodyPr wrap="square" rtlCol="0" anchor="ctr"/>
          <a:lstStyle/>
          <a:p>
            <a:pPr marL="0" indent="0" algn="ctr">
              <a:buNone/>
            </a:pPr>
            <a:r>
              <a:rPr lang="en-US" sz="2200" b="1" dirty="0">
                <a:solidFill>
                  <a:srgbClr val="0077B6"/>
                </a:solidFill>
                <a:latin typeface="Calibri" pitchFamily="34" charset="0"/>
                <a:ea typeface="Calibri" pitchFamily="34" charset="-122"/>
                <a:cs typeface="Calibri" pitchFamily="34" charset="-120"/>
              </a:rPr>
              <a:t>2,326</a:t>
            </a:r>
            <a:endParaRPr lang="en-US" sz="2200" dirty="0"/>
          </a:p>
        </p:txBody>
      </p:sp>
      <p:sp>
        <p:nvSpPr>
          <p:cNvPr id="24" name="Text 22"/>
          <p:cNvSpPr/>
          <p:nvPr/>
        </p:nvSpPr>
        <p:spPr>
          <a:xfrm>
            <a:off x="457200" y="4160520"/>
            <a:ext cx="1554480" cy="228600"/>
          </a:xfrm>
          <a:prstGeom prst="rect">
            <a:avLst/>
          </a:prstGeom>
          <a:noFill/>
          <a:ln/>
        </p:spPr>
        <p:txBody>
          <a:bodyPr wrap="square"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Dataset Records</a:t>
            </a:r>
            <a:endParaRPr lang="en-US" sz="950" dirty="0"/>
          </a:p>
        </p:txBody>
      </p:sp>
      <p:sp>
        <p:nvSpPr>
          <p:cNvPr id="25" name="Text 23"/>
          <p:cNvSpPr/>
          <p:nvPr/>
        </p:nvSpPr>
        <p:spPr>
          <a:xfrm>
            <a:off x="2121408" y="3794760"/>
            <a:ext cx="1554480" cy="384048"/>
          </a:xfrm>
          <a:prstGeom prst="rect">
            <a:avLst/>
          </a:prstGeom>
          <a:noFill/>
          <a:ln/>
        </p:spPr>
        <p:txBody>
          <a:bodyPr wrap="square" rtlCol="0" anchor="ctr"/>
          <a:lstStyle/>
          <a:p>
            <a:pPr marL="0" indent="0" algn="ctr">
              <a:buNone/>
            </a:pPr>
            <a:r>
              <a:rPr lang="en-US" sz="2200" b="1" dirty="0">
                <a:solidFill>
                  <a:srgbClr val="0077B6"/>
                </a:solidFill>
                <a:latin typeface="Calibri" pitchFamily="34" charset="0"/>
                <a:ea typeface="Calibri" pitchFamily="34" charset="-122"/>
                <a:cs typeface="Calibri" pitchFamily="34" charset="-120"/>
              </a:rPr>
              <a:t>3</a:t>
            </a:r>
            <a:endParaRPr lang="en-US" sz="2200" dirty="0"/>
          </a:p>
        </p:txBody>
      </p:sp>
      <p:sp>
        <p:nvSpPr>
          <p:cNvPr id="26" name="Text 24"/>
          <p:cNvSpPr/>
          <p:nvPr/>
        </p:nvSpPr>
        <p:spPr>
          <a:xfrm>
            <a:off x="2121408" y="4160520"/>
            <a:ext cx="1554480" cy="228600"/>
          </a:xfrm>
          <a:prstGeom prst="rect">
            <a:avLst/>
          </a:prstGeom>
          <a:noFill/>
          <a:ln/>
        </p:spPr>
        <p:txBody>
          <a:bodyPr wrap="square"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Car Brands</a:t>
            </a:r>
            <a:endParaRPr lang="en-US" sz="950" dirty="0"/>
          </a:p>
        </p:txBody>
      </p:sp>
      <p:sp>
        <p:nvSpPr>
          <p:cNvPr id="27" name="Text 25"/>
          <p:cNvSpPr/>
          <p:nvPr/>
        </p:nvSpPr>
        <p:spPr>
          <a:xfrm>
            <a:off x="3785616" y="3794760"/>
            <a:ext cx="1554480" cy="384048"/>
          </a:xfrm>
          <a:prstGeom prst="rect">
            <a:avLst/>
          </a:prstGeom>
          <a:noFill/>
          <a:ln/>
        </p:spPr>
        <p:txBody>
          <a:bodyPr wrap="square" rtlCol="0" anchor="ctr"/>
          <a:lstStyle/>
          <a:p>
            <a:pPr marL="0" indent="0" algn="ctr">
              <a:buNone/>
            </a:pPr>
            <a:r>
              <a:rPr lang="en-US" sz="2200" b="1" dirty="0">
                <a:solidFill>
                  <a:srgbClr val="0077B6"/>
                </a:solidFill>
                <a:latin typeface="Calibri" pitchFamily="34" charset="0"/>
                <a:ea typeface="Calibri" pitchFamily="34" charset="-122"/>
                <a:cs typeface="Calibri" pitchFamily="34" charset="-120"/>
              </a:rPr>
              <a:t>5 yr</a:t>
            </a:r>
            <a:endParaRPr lang="en-US" sz="2200" dirty="0"/>
          </a:p>
        </p:txBody>
      </p:sp>
      <p:sp>
        <p:nvSpPr>
          <p:cNvPr id="28" name="Text 26"/>
          <p:cNvSpPr/>
          <p:nvPr/>
        </p:nvSpPr>
        <p:spPr>
          <a:xfrm>
            <a:off x="3785616" y="4160520"/>
            <a:ext cx="1554480" cy="228600"/>
          </a:xfrm>
          <a:prstGeom prst="rect">
            <a:avLst/>
          </a:prstGeom>
          <a:noFill/>
          <a:ln/>
        </p:spPr>
        <p:txBody>
          <a:bodyPr wrap="square"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Historical Data</a:t>
            </a:r>
            <a:endParaRPr lang="en-US" sz="950" dirty="0"/>
          </a:p>
        </p:txBody>
      </p:sp>
      <p:sp>
        <p:nvSpPr>
          <p:cNvPr id="29" name="Text 27"/>
          <p:cNvSpPr/>
          <p:nvPr/>
        </p:nvSpPr>
        <p:spPr>
          <a:xfrm>
            <a:off x="5449824" y="3794760"/>
            <a:ext cx="1554480" cy="384048"/>
          </a:xfrm>
          <a:prstGeom prst="rect">
            <a:avLst/>
          </a:prstGeom>
          <a:noFill/>
          <a:ln/>
        </p:spPr>
        <p:txBody>
          <a:bodyPr wrap="square" rtlCol="0" anchor="ctr"/>
          <a:lstStyle/>
          <a:p>
            <a:pPr marL="0" indent="0" algn="ctr">
              <a:buNone/>
            </a:pPr>
            <a:r>
              <a:rPr lang="en-US" sz="2200" b="1" dirty="0">
                <a:solidFill>
                  <a:srgbClr val="0077B6"/>
                </a:solidFill>
                <a:latin typeface="Calibri" pitchFamily="34" charset="0"/>
                <a:ea typeface="Calibri" pitchFamily="34" charset="-122"/>
                <a:cs typeface="Calibri" pitchFamily="34" charset="-120"/>
              </a:rPr>
              <a:t>15 yr</a:t>
            </a:r>
            <a:endParaRPr lang="en-US" sz="2200" dirty="0"/>
          </a:p>
        </p:txBody>
      </p:sp>
      <p:sp>
        <p:nvSpPr>
          <p:cNvPr id="30" name="Text 28"/>
          <p:cNvSpPr/>
          <p:nvPr/>
        </p:nvSpPr>
        <p:spPr>
          <a:xfrm>
            <a:off x="5449824" y="4160520"/>
            <a:ext cx="1554480" cy="228600"/>
          </a:xfrm>
          <a:prstGeom prst="rect">
            <a:avLst/>
          </a:prstGeom>
          <a:noFill/>
          <a:ln/>
        </p:spPr>
        <p:txBody>
          <a:bodyPr wrap="square"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Forecast Range</a:t>
            </a:r>
            <a:endParaRPr lang="en-US" sz="950" dirty="0"/>
          </a:p>
        </p:txBody>
      </p:sp>
      <p:sp>
        <p:nvSpPr>
          <p:cNvPr id="31" name="Text 29"/>
          <p:cNvSpPr/>
          <p:nvPr/>
        </p:nvSpPr>
        <p:spPr>
          <a:xfrm>
            <a:off x="7114032" y="3794760"/>
            <a:ext cx="1554480" cy="384048"/>
          </a:xfrm>
          <a:prstGeom prst="rect">
            <a:avLst/>
          </a:prstGeom>
          <a:noFill/>
          <a:ln/>
        </p:spPr>
        <p:txBody>
          <a:bodyPr wrap="square" rtlCol="0" anchor="ctr"/>
          <a:lstStyle/>
          <a:p>
            <a:pPr marL="0" indent="0" algn="ctr">
              <a:buNone/>
            </a:pPr>
            <a:r>
              <a:rPr lang="en-US" sz="2200" b="1" dirty="0">
                <a:solidFill>
                  <a:srgbClr val="0077B6"/>
                </a:solidFill>
                <a:latin typeface="Calibri" pitchFamily="34" charset="0"/>
                <a:ea typeface="Calibri" pitchFamily="34" charset="-122"/>
                <a:cs typeface="Calibri" pitchFamily="34" charset="-120"/>
              </a:rPr>
              <a:t>3</a:t>
            </a:r>
            <a:endParaRPr lang="en-US" sz="2200" dirty="0"/>
          </a:p>
        </p:txBody>
      </p:sp>
      <p:sp>
        <p:nvSpPr>
          <p:cNvPr id="32" name="Text 30"/>
          <p:cNvSpPr/>
          <p:nvPr/>
        </p:nvSpPr>
        <p:spPr>
          <a:xfrm>
            <a:off x="7114032" y="4160520"/>
            <a:ext cx="1554480" cy="228600"/>
          </a:xfrm>
          <a:prstGeom prst="rect">
            <a:avLst/>
          </a:prstGeom>
          <a:noFill/>
          <a:ln/>
        </p:spPr>
        <p:txBody>
          <a:bodyPr wrap="square" rtlCol="0" anchor="ctr"/>
          <a:lstStyle/>
          <a:p>
            <a:pPr marL="0" indent="0" algn="ctr">
              <a:buNone/>
            </a:pPr>
            <a:r>
              <a:rPr lang="en-US" sz="950" dirty="0">
                <a:solidFill>
                  <a:srgbClr val="888888"/>
                </a:solidFill>
                <a:latin typeface="Calibri" pitchFamily="34" charset="0"/>
                <a:ea typeface="Calibri" pitchFamily="34" charset="-122"/>
                <a:cs typeface="Calibri" pitchFamily="34" charset="-120"/>
              </a:rPr>
              <a:t>ML Models</a:t>
            </a:r>
            <a:endParaRPr lang="en-US" sz="950" dirty="0"/>
          </a:p>
        </p:txBody>
      </p:sp>
    </p:spTree>
    <p:extLst>
      <p:ext uri="{BB962C8B-B14F-4D97-AF65-F5344CB8AC3E}">
        <p14:creationId xmlns:p14="http://schemas.microsoft.com/office/powerpoint/2010/main" val="2011445661"/>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7B6"/>
          </a:solidFill>
          <a:ln w="12700">
            <a:solidFill>
              <a:srgbClr val="0077B6"/>
            </a:solidFill>
            <a:prstDash val="solid"/>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HTML Components Used</a:t>
            </a:r>
            <a:endParaRPr lang="en-US" sz="2200" dirty="0"/>
          </a:p>
        </p:txBody>
      </p:sp>
      <p:graphicFrame>
        <p:nvGraphicFramePr>
          <p:cNvPr id="4" name="Table 0"/>
          <p:cNvGraphicFramePr>
            <a:graphicFrameLocks noGrp="1"/>
          </p:cNvGraphicFramePr>
          <p:nvPr>
            <p:extLst/>
          </p:nvPr>
        </p:nvGraphicFramePr>
        <p:xfrm>
          <a:off x="274320" y="777240"/>
          <a:ext cx="7680960" cy="4017264"/>
        </p:xfrm>
        <a:graphic>
          <a:graphicData uri="http://schemas.openxmlformats.org/drawingml/2006/table">
            <a:tbl>
              <a:tblPr/>
              <a:tblGrid>
                <a:gridCol w="1463040"/>
                <a:gridCol w="1645920"/>
                <a:gridCol w="3017520"/>
                <a:gridCol w="1554480"/>
              </a:tblGrid>
              <a:tr h="30175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7B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HTML Tag</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7B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7B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Screen / Section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77B6"/>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Canvas (BG)</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&lt;canvas&gt;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Animated particle background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Landing Page</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Screen Divs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class='screen'&gt;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Full-viewport page containers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Global Layout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Auth Form</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&lt;input&gt;, &lt;button&gt;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Multi-step login / register with validation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Landing — Right Panel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Topbar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class='topbar'&gt;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Brand name, section label, user actions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App Shell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Sidebar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class='sidebar'&gt;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Navigation links + live brand stats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App Shell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Nav Buttons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&lt;button class='nav-btn'&gt;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Client-side panel routing</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Sidebar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Content Panels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class='panel'&gt;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Swappable sections: Overview, Explorer…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Main Content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Chart.js Canvas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&lt;canvas&gt;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Bar, Line, Pie charts via Chart.js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Explorer / Forecaster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Dataset Table</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&lt;table id='dv-table'&gt;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Sortable, paginated, filterable grid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Dataset Viewer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Filter Dropdowns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&lt;select&gt;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Segment &amp; Fuel-type filter controls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Dataset Viewer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Toast Notification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class='toast'&gt;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Non-blocking popup messages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Global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7FF"/>
                    </a:solidFill>
                  </a:tcPr>
                </a:tc>
              </a:tr>
              <a:tr h="301752">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Confirm Modal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&lt;div class='confirm-overlay'&gt;</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Confirmation dialog overlay</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444444"/>
                          </a:solidFill>
                          <a:latin typeface="Calibri" pitchFamily="34" charset="0"/>
                          <a:ea typeface="Calibri" pitchFamily="34" charset="-122"/>
                          <a:cs typeface="Calibri" pitchFamily="34" charset="-120"/>
                        </a:rPr>
                        <a:t>Global</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7006782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077B6"/>
          </a:solidFill>
          <a:ln w="12700">
            <a:solidFill>
              <a:srgbClr val="0077B6"/>
            </a:solidFill>
            <a:prstDash val="solid"/>
          </a:ln>
        </p:spPr>
      </p:sp>
      <p:sp>
        <p:nvSpPr>
          <p:cNvPr id="3" name="Text 1"/>
          <p:cNvSpPr/>
          <p:nvPr/>
        </p:nvSpPr>
        <p:spPr>
          <a:xfrm>
            <a:off x="457200" y="109728"/>
            <a:ext cx="8229600" cy="4572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the Cleaned Dataset Is Implemented</a:t>
            </a:r>
            <a:endParaRPr lang="en-US" sz="2200" dirty="0"/>
          </a:p>
        </p:txBody>
      </p:sp>
      <p:sp>
        <p:nvSpPr>
          <p:cNvPr id="4" name="Shape 2"/>
          <p:cNvSpPr/>
          <p:nvPr/>
        </p:nvSpPr>
        <p:spPr>
          <a:xfrm>
            <a:off x="320040" y="914400"/>
            <a:ext cx="347472" cy="347472"/>
          </a:xfrm>
          <a:prstGeom prst="ellipse">
            <a:avLst/>
          </a:prstGeom>
          <a:solidFill>
            <a:srgbClr val="0077B6"/>
          </a:solidFill>
          <a:ln w="12700">
            <a:solidFill>
              <a:srgbClr val="0077B6"/>
            </a:solidFill>
            <a:prstDash val="solid"/>
          </a:ln>
        </p:spPr>
      </p:sp>
      <p:sp>
        <p:nvSpPr>
          <p:cNvPr id="5" name="Text 3"/>
          <p:cNvSpPr/>
          <p:nvPr/>
        </p:nvSpPr>
        <p:spPr>
          <a:xfrm>
            <a:off x="320040" y="91440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4"/>
          <p:cNvSpPr/>
          <p:nvPr/>
        </p:nvSpPr>
        <p:spPr>
          <a:xfrm>
            <a:off x="777240" y="868680"/>
            <a:ext cx="3749040" cy="1828800"/>
          </a:xfrm>
          <a:prstGeom prst="rect">
            <a:avLst/>
          </a:prstGeom>
          <a:solidFill>
            <a:srgbClr val="F0F7FF"/>
          </a:solidFill>
          <a:ln w="10160">
            <a:solidFill>
              <a:srgbClr val="CCE5FF"/>
            </a:solidFill>
            <a:prstDash val="solid"/>
          </a:ln>
        </p:spPr>
      </p:sp>
      <p:sp>
        <p:nvSpPr>
          <p:cNvPr id="7" name="Text 5"/>
          <p:cNvSpPr/>
          <p:nvPr/>
        </p:nvSpPr>
        <p:spPr>
          <a:xfrm>
            <a:off x="914400" y="960120"/>
            <a:ext cx="347472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CSV Data Embedded in HTML</a:t>
            </a:r>
            <a:endParaRPr lang="en-US" sz="1200" dirty="0"/>
          </a:p>
        </p:txBody>
      </p:sp>
      <p:sp>
        <p:nvSpPr>
          <p:cNvPr id="8" name="Text 6"/>
          <p:cNvSpPr/>
          <p:nvPr/>
        </p:nvSpPr>
        <p:spPr>
          <a:xfrm>
            <a:off x="914400" y="1325880"/>
            <a:ext cx="3474720" cy="1280160"/>
          </a:xfrm>
          <a:prstGeom prst="rect">
            <a:avLst/>
          </a:prstGeom>
          <a:noFill/>
          <a:ln/>
        </p:spPr>
        <p:txBody>
          <a:bodyPr wrap="square" rtlCol="0" anchor="ctr"/>
          <a:lstStyle/>
          <a:p>
            <a:pPr marL="0" indent="0">
              <a:lnSpc>
                <a:spcPct val="140000"/>
              </a:lnSpc>
              <a:buNone/>
            </a:pPr>
            <a:r>
              <a:rPr lang="en-US" sz="1100" dirty="0">
                <a:solidFill>
                  <a:srgbClr val="444444"/>
                </a:solidFill>
                <a:latin typeface="Calibri" pitchFamily="34" charset="0"/>
                <a:ea typeface="Calibri" pitchFamily="34" charset="-122"/>
                <a:cs typeface="Calibri" pitchFamily="34" charset="-120"/>
              </a:rPr>
              <a:t>Raw CSV files for Maruti, Mahindra &amp; Hyundai are parsed and stored as a JavaScript object (CSV_DATA) directly inside the HTML file — no server or database needed.</a:t>
            </a:r>
            <a:endParaRPr lang="en-US" sz="1100" dirty="0"/>
          </a:p>
        </p:txBody>
      </p:sp>
      <p:sp>
        <p:nvSpPr>
          <p:cNvPr id="9" name="Shape 7"/>
          <p:cNvSpPr/>
          <p:nvPr/>
        </p:nvSpPr>
        <p:spPr>
          <a:xfrm>
            <a:off x="4800600" y="914400"/>
            <a:ext cx="347472" cy="347472"/>
          </a:xfrm>
          <a:prstGeom prst="ellipse">
            <a:avLst/>
          </a:prstGeom>
          <a:solidFill>
            <a:srgbClr val="0077B6"/>
          </a:solidFill>
          <a:ln w="12700">
            <a:solidFill>
              <a:srgbClr val="0077B6"/>
            </a:solidFill>
            <a:prstDash val="solid"/>
          </a:ln>
        </p:spPr>
      </p:sp>
      <p:sp>
        <p:nvSpPr>
          <p:cNvPr id="10" name="Text 8"/>
          <p:cNvSpPr/>
          <p:nvPr/>
        </p:nvSpPr>
        <p:spPr>
          <a:xfrm>
            <a:off x="4800600" y="91440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Shape 9"/>
          <p:cNvSpPr/>
          <p:nvPr/>
        </p:nvSpPr>
        <p:spPr>
          <a:xfrm>
            <a:off x="5257800" y="868680"/>
            <a:ext cx="3749040" cy="1828800"/>
          </a:xfrm>
          <a:prstGeom prst="rect">
            <a:avLst/>
          </a:prstGeom>
          <a:solidFill>
            <a:srgbClr val="F0F7FF"/>
          </a:solidFill>
          <a:ln w="10160">
            <a:solidFill>
              <a:srgbClr val="CCE5FF"/>
            </a:solidFill>
            <a:prstDash val="solid"/>
          </a:ln>
        </p:spPr>
      </p:sp>
      <p:sp>
        <p:nvSpPr>
          <p:cNvPr id="12" name="Text 10"/>
          <p:cNvSpPr/>
          <p:nvPr/>
        </p:nvSpPr>
        <p:spPr>
          <a:xfrm>
            <a:off x="5394960" y="960120"/>
            <a:ext cx="347472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In-Browser Parsing &amp; Cleaning</a:t>
            </a:r>
            <a:endParaRPr lang="en-US" sz="1200" dirty="0"/>
          </a:p>
        </p:txBody>
      </p:sp>
      <p:sp>
        <p:nvSpPr>
          <p:cNvPr id="13" name="Text 11"/>
          <p:cNvSpPr/>
          <p:nvPr/>
        </p:nvSpPr>
        <p:spPr>
          <a:xfrm>
            <a:off x="5394960" y="1325880"/>
            <a:ext cx="3474720" cy="1280160"/>
          </a:xfrm>
          <a:prstGeom prst="rect">
            <a:avLst/>
          </a:prstGeom>
          <a:noFill/>
          <a:ln/>
        </p:spPr>
        <p:txBody>
          <a:bodyPr wrap="square" rtlCol="0" anchor="ctr"/>
          <a:lstStyle/>
          <a:p>
            <a:pPr marL="0" indent="0">
              <a:lnSpc>
                <a:spcPct val="140000"/>
              </a:lnSpc>
              <a:buNone/>
            </a:pPr>
            <a:r>
              <a:rPr lang="en-US" sz="1100" dirty="0">
                <a:solidFill>
                  <a:srgbClr val="444444"/>
                </a:solidFill>
                <a:latin typeface="Calibri" pitchFamily="34" charset="0"/>
                <a:ea typeface="Calibri" pitchFamily="34" charset="-122"/>
                <a:cs typeface="Calibri" pitchFamily="34" charset="-120"/>
              </a:rPr>
              <a:t>On load, JS splits each CSV row, maps column headers to typed fields, and coerces numeric values (price, units, revenue). Missing values are normalised to a dash '—'.</a:t>
            </a:r>
            <a:endParaRPr lang="en-US" sz="1100" dirty="0"/>
          </a:p>
        </p:txBody>
      </p:sp>
      <p:sp>
        <p:nvSpPr>
          <p:cNvPr id="14" name="Shape 12"/>
          <p:cNvSpPr/>
          <p:nvPr/>
        </p:nvSpPr>
        <p:spPr>
          <a:xfrm>
            <a:off x="320040" y="2971800"/>
            <a:ext cx="347472" cy="347472"/>
          </a:xfrm>
          <a:prstGeom prst="ellipse">
            <a:avLst/>
          </a:prstGeom>
          <a:solidFill>
            <a:srgbClr val="0077B6"/>
          </a:solidFill>
          <a:ln w="12700">
            <a:solidFill>
              <a:srgbClr val="0077B6"/>
            </a:solidFill>
            <a:prstDash val="solid"/>
          </a:ln>
        </p:spPr>
      </p:sp>
      <p:sp>
        <p:nvSpPr>
          <p:cNvPr id="15" name="Text 13"/>
          <p:cNvSpPr/>
          <p:nvPr/>
        </p:nvSpPr>
        <p:spPr>
          <a:xfrm>
            <a:off x="320040" y="297180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Shape 14"/>
          <p:cNvSpPr/>
          <p:nvPr/>
        </p:nvSpPr>
        <p:spPr>
          <a:xfrm>
            <a:off x="777240" y="2926080"/>
            <a:ext cx="3749040" cy="1828800"/>
          </a:xfrm>
          <a:prstGeom prst="rect">
            <a:avLst/>
          </a:prstGeom>
          <a:solidFill>
            <a:srgbClr val="F0F7FF"/>
          </a:solidFill>
          <a:ln w="10160">
            <a:solidFill>
              <a:srgbClr val="CCE5FF"/>
            </a:solidFill>
            <a:prstDash val="solid"/>
          </a:ln>
        </p:spPr>
      </p:sp>
      <p:sp>
        <p:nvSpPr>
          <p:cNvPr id="17" name="Text 15"/>
          <p:cNvSpPr/>
          <p:nvPr/>
        </p:nvSpPr>
        <p:spPr>
          <a:xfrm>
            <a:off x="914400" y="3017520"/>
            <a:ext cx="347472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Live Filtering &amp; Sorting</a:t>
            </a:r>
            <a:endParaRPr lang="en-US" sz="1200" dirty="0"/>
          </a:p>
        </p:txBody>
      </p:sp>
      <p:sp>
        <p:nvSpPr>
          <p:cNvPr id="18" name="Text 16"/>
          <p:cNvSpPr/>
          <p:nvPr/>
        </p:nvSpPr>
        <p:spPr>
          <a:xfrm>
            <a:off x="914400" y="3383280"/>
            <a:ext cx="3474720" cy="1280160"/>
          </a:xfrm>
          <a:prstGeom prst="rect">
            <a:avLst/>
          </a:prstGeom>
          <a:noFill/>
          <a:ln/>
        </p:spPr>
        <p:txBody>
          <a:bodyPr wrap="square" rtlCol="0" anchor="ctr"/>
          <a:lstStyle/>
          <a:p>
            <a:pPr marL="0" indent="0">
              <a:lnSpc>
                <a:spcPct val="140000"/>
              </a:lnSpc>
              <a:buNone/>
            </a:pPr>
            <a:r>
              <a:rPr lang="en-US" sz="1100" dirty="0">
                <a:solidFill>
                  <a:srgbClr val="444444"/>
                </a:solidFill>
                <a:latin typeface="Calibri" pitchFamily="34" charset="0"/>
                <a:ea typeface="Calibri" pitchFamily="34" charset="-122"/>
                <a:cs typeface="Calibri" pitchFamily="34" charset="-120"/>
              </a:rPr>
              <a:t>filterDvTable() applies real-time text search plus Segment and Fuel-Type dropdown filters. Clicking any column header calls dvSort() to toggle ascending / descending order.</a:t>
            </a:r>
            <a:endParaRPr lang="en-US" sz="1100" dirty="0"/>
          </a:p>
        </p:txBody>
      </p:sp>
      <p:sp>
        <p:nvSpPr>
          <p:cNvPr id="19" name="Shape 17"/>
          <p:cNvSpPr/>
          <p:nvPr/>
        </p:nvSpPr>
        <p:spPr>
          <a:xfrm>
            <a:off x="4462272" y="2048256"/>
            <a:ext cx="347472" cy="347472"/>
          </a:xfrm>
          <a:prstGeom prst="ellipse">
            <a:avLst/>
          </a:prstGeom>
          <a:solidFill>
            <a:srgbClr val="0077B6"/>
          </a:solidFill>
          <a:ln w="12700">
            <a:solidFill>
              <a:srgbClr val="0077B6"/>
            </a:solidFill>
            <a:prstDash val="solid"/>
          </a:ln>
        </p:spPr>
      </p:sp>
      <p:sp>
        <p:nvSpPr>
          <p:cNvPr id="20" name="Text 18"/>
          <p:cNvSpPr/>
          <p:nvPr/>
        </p:nvSpPr>
        <p:spPr>
          <a:xfrm>
            <a:off x="4800600" y="297180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9"/>
          <p:cNvSpPr/>
          <p:nvPr/>
        </p:nvSpPr>
        <p:spPr>
          <a:xfrm>
            <a:off x="5257800" y="2926080"/>
            <a:ext cx="3749040" cy="1828800"/>
          </a:xfrm>
          <a:prstGeom prst="rect">
            <a:avLst/>
          </a:prstGeom>
          <a:solidFill>
            <a:srgbClr val="F0F7FF"/>
          </a:solidFill>
          <a:ln w="10160">
            <a:solidFill>
              <a:srgbClr val="CCE5FF"/>
            </a:solidFill>
            <a:prstDash val="solid"/>
          </a:ln>
        </p:spPr>
      </p:sp>
      <p:sp>
        <p:nvSpPr>
          <p:cNvPr id="22" name="Text 20"/>
          <p:cNvSpPr/>
          <p:nvPr/>
        </p:nvSpPr>
        <p:spPr>
          <a:xfrm>
            <a:off x="5394960" y="3017520"/>
            <a:ext cx="3474720" cy="32004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Paginated Table Rendering</a:t>
            </a:r>
            <a:endParaRPr lang="en-US" sz="1200" dirty="0"/>
          </a:p>
        </p:txBody>
      </p:sp>
      <p:sp>
        <p:nvSpPr>
          <p:cNvPr id="23" name="Text 21"/>
          <p:cNvSpPr/>
          <p:nvPr/>
        </p:nvSpPr>
        <p:spPr>
          <a:xfrm>
            <a:off x="5394960" y="3383280"/>
            <a:ext cx="3474720" cy="1280160"/>
          </a:xfrm>
          <a:prstGeom prst="rect">
            <a:avLst/>
          </a:prstGeom>
          <a:noFill/>
          <a:ln/>
        </p:spPr>
        <p:txBody>
          <a:bodyPr wrap="square" rtlCol="0" anchor="ctr"/>
          <a:lstStyle/>
          <a:p>
            <a:pPr marL="0" indent="0">
              <a:lnSpc>
                <a:spcPct val="140000"/>
              </a:lnSpc>
              <a:buNone/>
            </a:pPr>
            <a:r>
              <a:rPr lang="en-US" sz="1100" dirty="0">
                <a:solidFill>
                  <a:srgbClr val="444444"/>
                </a:solidFill>
                <a:latin typeface="Calibri" pitchFamily="34" charset="0"/>
                <a:ea typeface="Calibri" pitchFamily="34" charset="-122"/>
                <a:cs typeface="Calibri" pitchFamily="34" charset="-120"/>
              </a:rPr>
              <a:t>renderDvTable() slices the filtered array into pages of 25 rows. Special renderers format star ratings (★★★), prices (₹L / ₹Cr), and badge chips for Segment &amp; Fuel Type.</a:t>
            </a:r>
            <a:endParaRPr lang="en-US" sz="1100" dirty="0"/>
          </a:p>
        </p:txBody>
      </p:sp>
    </p:spTree>
    <p:extLst>
      <p:ext uri="{BB962C8B-B14F-4D97-AF65-F5344CB8AC3E}">
        <p14:creationId xmlns:p14="http://schemas.microsoft.com/office/powerpoint/2010/main" val="399982987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207374" cy="5143500"/>
          </a:xfrm>
          <a:prstGeom prst="rect">
            <a:avLst/>
          </a:prstGeom>
          <a:blipFill dpi="0" rotWithShape="1">
            <a:blip r:embed="rId2">
              <a:alphaModFix amt="75000"/>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667153" y="412760"/>
            <a:ext cx="3327991" cy="1754326"/>
          </a:xfrm>
          <a:prstGeom prst="rect">
            <a:avLst/>
          </a:prstGeom>
          <a:noFill/>
        </p:spPr>
        <p:txBody>
          <a:bodyPr wrap="square" lIns="91440" tIns="45720" rIns="91440" bIns="45720">
            <a:spAutoFit/>
          </a:bodyPr>
          <a:lstStyle/>
          <a:p>
            <a:pPr algn="ctr"/>
            <a:r>
              <a:rPr lang="en-US"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Webpage </a:t>
            </a:r>
            <a:endParaRPr lang="en-US"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algn="ctr"/>
            <a:r>
              <a:rPr lang="en-US"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Model</a:t>
            </a:r>
            <a:endPar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73420022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3319" y="177573"/>
            <a:ext cx="3606709" cy="179807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Picture 2"/>
          <p:cNvPicPr>
            <a:picLocks noChangeAspect="1"/>
          </p:cNvPicPr>
          <p:nvPr/>
        </p:nvPicPr>
        <p:blipFill>
          <a:blip r:embed="rId3"/>
          <a:stretch>
            <a:fillRect/>
          </a:stretch>
        </p:blipFill>
        <p:spPr>
          <a:xfrm>
            <a:off x="4858648" y="177574"/>
            <a:ext cx="3727982" cy="186126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p:cNvPicPr>
            <a:picLocks noChangeAspect="1"/>
          </p:cNvPicPr>
          <p:nvPr/>
        </p:nvPicPr>
        <p:blipFill>
          <a:blip r:embed="rId4"/>
          <a:stretch>
            <a:fillRect/>
          </a:stretch>
        </p:blipFill>
        <p:spPr>
          <a:xfrm>
            <a:off x="164059" y="2623610"/>
            <a:ext cx="3565969" cy="201954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6" name="Picture 5"/>
          <p:cNvPicPr>
            <a:picLocks noChangeAspect="1"/>
          </p:cNvPicPr>
          <p:nvPr/>
        </p:nvPicPr>
        <p:blipFill>
          <a:blip r:embed="rId5"/>
          <a:stretch>
            <a:fillRect/>
          </a:stretch>
        </p:blipFill>
        <p:spPr>
          <a:xfrm>
            <a:off x="4689695" y="2709758"/>
            <a:ext cx="3896935" cy="197288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7" name="Rectangle 6"/>
          <p:cNvSpPr/>
          <p:nvPr/>
        </p:nvSpPr>
        <p:spPr>
          <a:xfrm>
            <a:off x="-215903" y="1995559"/>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Login Page</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8" name="Rectangle 7"/>
          <p:cNvSpPr/>
          <p:nvPr/>
        </p:nvSpPr>
        <p:spPr>
          <a:xfrm>
            <a:off x="4689695" y="2058749"/>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Overview/Selection Page</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9" name="Rectangle 8"/>
          <p:cNvSpPr/>
          <p:nvPr/>
        </p:nvSpPr>
        <p:spPr>
          <a:xfrm>
            <a:off x="-116457" y="4652557"/>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Future Trend Predictor</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10" name="Rectangle 9"/>
          <p:cNvSpPr/>
          <p:nvPr/>
        </p:nvSpPr>
        <p:spPr>
          <a:xfrm>
            <a:off x="4659139" y="4682643"/>
            <a:ext cx="4127000" cy="523220"/>
          </a:xfrm>
          <a:prstGeom prst="rect">
            <a:avLst/>
          </a:prstGeom>
          <a:noFill/>
        </p:spPr>
        <p:txBody>
          <a:bodyPr wrap="square" lIns="91440" tIns="45720" rIns="91440" bIns="45720">
            <a:spAutoFit/>
          </a:bodyPr>
          <a:lstStyle/>
          <a:p>
            <a:pPr algn="ctr"/>
            <a:r>
              <a:rPr lang="en-US" sz="2800" b="1" dirty="0" err="1"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Maruti</a:t>
            </a: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Suzuki Trend</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3289246101"/>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9077" y="209064"/>
            <a:ext cx="3775451" cy="178269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 name="Picture 2"/>
          <p:cNvPicPr>
            <a:picLocks noChangeAspect="1"/>
          </p:cNvPicPr>
          <p:nvPr/>
        </p:nvPicPr>
        <p:blipFill>
          <a:blip r:embed="rId3"/>
          <a:stretch>
            <a:fillRect/>
          </a:stretch>
        </p:blipFill>
        <p:spPr>
          <a:xfrm>
            <a:off x="4986137" y="209064"/>
            <a:ext cx="3587519" cy="178850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 name="Picture 3"/>
          <p:cNvPicPr>
            <a:picLocks noChangeAspect="1"/>
          </p:cNvPicPr>
          <p:nvPr/>
        </p:nvPicPr>
        <p:blipFill>
          <a:blip r:embed="rId4"/>
          <a:stretch>
            <a:fillRect/>
          </a:stretch>
        </p:blipFill>
        <p:spPr>
          <a:xfrm>
            <a:off x="333763" y="2701638"/>
            <a:ext cx="3906078" cy="19444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5" name="Picture 4"/>
          <p:cNvPicPr>
            <a:picLocks noChangeAspect="1"/>
          </p:cNvPicPr>
          <p:nvPr/>
        </p:nvPicPr>
        <p:blipFill>
          <a:blip r:embed="rId5"/>
          <a:stretch>
            <a:fillRect/>
          </a:stretch>
        </p:blipFill>
        <p:spPr>
          <a:xfrm>
            <a:off x="4835436" y="2701638"/>
            <a:ext cx="3888919" cy="194446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Rectangle 5"/>
          <p:cNvSpPr/>
          <p:nvPr/>
        </p:nvSpPr>
        <p:spPr>
          <a:xfrm>
            <a:off x="223302" y="1997571"/>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Mahindra Trend</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Rectangle 6"/>
          <p:cNvSpPr/>
          <p:nvPr/>
        </p:nvSpPr>
        <p:spPr>
          <a:xfrm>
            <a:off x="4716395" y="2008626"/>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Hyundai Trend</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8" name="Rectangle 7"/>
          <p:cNvSpPr/>
          <p:nvPr/>
        </p:nvSpPr>
        <p:spPr>
          <a:xfrm>
            <a:off x="223302" y="4646098"/>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Individual Forecasting</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9" name="Rectangle 8"/>
          <p:cNvSpPr/>
          <p:nvPr/>
        </p:nvSpPr>
        <p:spPr>
          <a:xfrm>
            <a:off x="4716395" y="4673420"/>
            <a:ext cx="4127000" cy="523220"/>
          </a:xfrm>
          <a:prstGeom prst="rect">
            <a:avLst/>
          </a:prstGeom>
          <a:noFill/>
        </p:spPr>
        <p:txBody>
          <a:bodyPr wrap="square" lIns="91440" tIns="45720" rIns="91440" bIns="45720">
            <a:spAutoFit/>
          </a:bodyPr>
          <a:lstStyle/>
          <a:p>
            <a:pPr algn="ctr"/>
            <a:r>
              <a:rPr lang="en-US" sz="2800" b="1"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Dataset Viewer</a:t>
            </a:r>
            <a:endPar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Tree>
    <p:extLst>
      <p:ext uri="{BB962C8B-B14F-4D97-AF65-F5344CB8AC3E}">
        <p14:creationId xmlns:p14="http://schemas.microsoft.com/office/powerpoint/2010/main" val="283692130"/>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0A1931"/>
        </a:solidFill>
        <a:effectLst/>
      </p:bgPr>
    </p:bg>
    <p:spTree>
      <p:nvGrpSpPr>
        <p:cNvPr id="1" name=""/>
        <p:cNvGrpSpPr/>
        <p:nvPr/>
      </p:nvGrpSpPr>
      <p:grpSpPr>
        <a:xfrm>
          <a:off x="0" y="0"/>
          <a:ext cx="0" cy="0"/>
          <a:chOff x="0" y="0"/>
          <a:chExt cx="0" cy="0"/>
        </a:xfrm>
      </p:grpSpPr>
      <p:sp>
        <p:nvSpPr>
          <p:cNvPr id="2" name="Shape 0"/>
          <p:cNvSpPr/>
          <p:nvPr/>
        </p:nvSpPr>
        <p:spPr>
          <a:xfrm>
            <a:off x="0" y="1463040"/>
            <a:ext cx="9144000" cy="2194560"/>
          </a:xfrm>
          <a:prstGeom prst="rect">
            <a:avLst/>
          </a:prstGeom>
          <a:solidFill>
            <a:srgbClr val="0E6BA8"/>
          </a:solidFill>
          <a:ln w="12700">
            <a:solidFill>
              <a:srgbClr val="0E6BA8"/>
            </a:solidFill>
            <a:prstDash val="solid"/>
          </a:ln>
        </p:spPr>
      </p:sp>
      <p:sp>
        <p:nvSpPr>
          <p:cNvPr id="3" name="Text 1"/>
          <p:cNvSpPr/>
          <p:nvPr/>
        </p:nvSpPr>
        <p:spPr>
          <a:xfrm>
            <a:off x="457200" y="1508760"/>
            <a:ext cx="8229600" cy="1097280"/>
          </a:xfrm>
          <a:prstGeom prst="rect">
            <a:avLst/>
          </a:prstGeom>
          <a:noFill/>
          <a:ln/>
        </p:spPr>
        <p:txBody>
          <a:bodyPr wrap="square" rtlCol="0" anchor="ctr"/>
          <a:lstStyle/>
          <a:p>
            <a:pPr marL="0" indent="0" algn="ctr">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457200" y="2651760"/>
            <a:ext cx="8229600" cy="548640"/>
          </a:xfrm>
          <a:prstGeom prst="rect">
            <a:avLst/>
          </a:prstGeom>
          <a:noFill/>
          <a:ln/>
        </p:spPr>
        <p:txBody>
          <a:bodyPr wrap="square" rtlCol="0" anchor="ctr"/>
          <a:lstStyle/>
          <a:p>
            <a:pPr marL="0" indent="0" algn="ctr">
              <a:buNone/>
            </a:pPr>
            <a:r>
              <a:rPr lang="en-US" sz="1600" dirty="0">
                <a:solidFill>
                  <a:srgbClr val="E8F4FD"/>
                </a:solidFill>
                <a:latin typeface="Calibri" pitchFamily="34" charset="0"/>
                <a:ea typeface="Calibri" pitchFamily="34" charset="-122"/>
                <a:cs typeface="Calibri" pitchFamily="34" charset="-120"/>
              </a:rPr>
              <a:t>Indian Automobile Market — EDA &amp; ML Analysis</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marL="0" indent="0" algn="ctr">
              <a:buNone/>
            </a:pPr>
            <a:r>
              <a:rPr lang="en-US" sz="1100" i="1" dirty="0">
                <a:solidFill>
                  <a:srgbClr val="94A3B8"/>
                </a:solidFill>
                <a:latin typeface="Calibri" pitchFamily="34" charset="0"/>
                <a:ea typeface="Calibri" pitchFamily="34" charset="-122"/>
                <a:cs typeface="Calibri" pitchFamily="34" charset="-120"/>
              </a:rPr>
              <a:t>Datasets: Maruti Suzuki · Mahindra · Hyundai  |  Method: EDA + Random Forest</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2656</Words>
  <Application>Microsoft Office PowerPoint</Application>
  <PresentationFormat>On-screen Show (16:9)</PresentationFormat>
  <Paragraphs>428</Paragraphs>
  <Slides>29</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Automobile Market — EDA &amp; ML Analysis</dc:title>
  <dc:subject>PptxGenJS Presentation</dc:subject>
  <dc:creator>PptxGenJS</dc:creator>
  <cp:lastModifiedBy>Admin</cp:lastModifiedBy>
  <cp:revision>12</cp:revision>
  <dcterms:created xsi:type="dcterms:W3CDTF">2026-04-19T11:24:37Z</dcterms:created>
  <dcterms:modified xsi:type="dcterms:W3CDTF">2026-04-19T15:09:43Z</dcterms:modified>
</cp:coreProperties>
</file>